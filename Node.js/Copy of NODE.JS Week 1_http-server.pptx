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Raleway"/>
      <p:regular r:id="rId32"/>
      <p:bold r:id="rId33"/>
      <p:italic r:id="rId34"/>
      <p:boldItalic r:id="rId35"/>
    </p:embeddedFont>
    <p:embeddedFont>
      <p:font typeface="Roboto"/>
      <p:regular r:id="rId36"/>
      <p:bold r:id="rId37"/>
      <p:italic r:id="rId38"/>
      <p:boldItalic r:id="rId39"/>
    </p:embeddedFont>
    <p:embeddedFont>
      <p:font typeface="Lato"/>
      <p:regular r:id="rId40"/>
      <p:bold r:id="rId41"/>
      <p:italic r:id="rId42"/>
      <p:boldItalic r:id="rId43"/>
    </p:embeddedFont>
    <p:embeddedFont>
      <p:font typeface="Roboto Mon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regular.fntdata"/><Relationship Id="rId20" Type="http://schemas.openxmlformats.org/officeDocument/2006/relationships/slide" Target="slides/slide15.xml"/><Relationship Id="rId42" Type="http://schemas.openxmlformats.org/officeDocument/2006/relationships/font" Target="fonts/Lato-italic.fntdata"/><Relationship Id="rId41" Type="http://schemas.openxmlformats.org/officeDocument/2006/relationships/font" Target="fonts/Lato-bold.fntdata"/><Relationship Id="rId22" Type="http://schemas.openxmlformats.org/officeDocument/2006/relationships/slide" Target="slides/slide17.xml"/><Relationship Id="rId44" Type="http://schemas.openxmlformats.org/officeDocument/2006/relationships/font" Target="fonts/RobotoMono-regular.fntdata"/><Relationship Id="rId21" Type="http://schemas.openxmlformats.org/officeDocument/2006/relationships/slide" Target="slides/slide16.xml"/><Relationship Id="rId43" Type="http://schemas.openxmlformats.org/officeDocument/2006/relationships/font" Target="fonts/Lato-boldItalic.fntdata"/><Relationship Id="rId24" Type="http://schemas.openxmlformats.org/officeDocument/2006/relationships/slide" Target="slides/slide19.xml"/><Relationship Id="rId46" Type="http://schemas.openxmlformats.org/officeDocument/2006/relationships/font" Target="fonts/RobotoMono-italic.fntdata"/><Relationship Id="rId23" Type="http://schemas.openxmlformats.org/officeDocument/2006/relationships/slide" Target="slides/slide18.xml"/><Relationship Id="rId45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font" Target="fonts/RobotoMono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aleway-bold.fntdata"/><Relationship Id="rId10" Type="http://schemas.openxmlformats.org/officeDocument/2006/relationships/slide" Target="slides/slide5.xml"/><Relationship Id="rId32" Type="http://schemas.openxmlformats.org/officeDocument/2006/relationships/font" Target="fonts/Raleway-regular.fntdata"/><Relationship Id="rId13" Type="http://schemas.openxmlformats.org/officeDocument/2006/relationships/slide" Target="slides/slide8.xml"/><Relationship Id="rId35" Type="http://schemas.openxmlformats.org/officeDocument/2006/relationships/font" Target="fonts/Raleway-boldItalic.fntdata"/><Relationship Id="rId12" Type="http://schemas.openxmlformats.org/officeDocument/2006/relationships/slide" Target="slides/slide7.xml"/><Relationship Id="rId34" Type="http://schemas.openxmlformats.org/officeDocument/2006/relationships/font" Target="fonts/Raleway-italic.fntdata"/><Relationship Id="rId15" Type="http://schemas.openxmlformats.org/officeDocument/2006/relationships/slide" Target="slides/slide10.xml"/><Relationship Id="rId37" Type="http://schemas.openxmlformats.org/officeDocument/2006/relationships/font" Target="fonts/Roboto-bold.fntdata"/><Relationship Id="rId14" Type="http://schemas.openxmlformats.org/officeDocument/2006/relationships/slide" Target="slides/slide9.xml"/><Relationship Id="rId36" Type="http://schemas.openxmlformats.org/officeDocument/2006/relationships/font" Target="fonts/Roboto-regular.fntdata"/><Relationship Id="rId17" Type="http://schemas.openxmlformats.org/officeDocument/2006/relationships/slide" Target="slides/slide12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11.xml"/><Relationship Id="rId38" Type="http://schemas.openxmlformats.org/officeDocument/2006/relationships/font" Target="fonts/Robot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bb153c6d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3bb153c6d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3bb153c6dd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3bb153c6d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bb153c6d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bb153c6d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3bb153c6dd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3bb153c6d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bb153c6dd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bb153c6d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bb153c6dd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3bb153c6d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3bb153c6dd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3bb153c6d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bb153c6dd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bb153c6dd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3bb153c6dd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3bb153c6dd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bb153c6dd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3bb153c6dd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bb153c6dd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3bb153c6dd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3bb153c6dd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3bb153c6dd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3bb153c6dd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3bb153c6dd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3bb153c6dd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3bb153c6dd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3bb153c6dd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3bb153c6dd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3bb153c6dd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3bb153c6dd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3bb153c6dd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3bb153c6dd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3bb9ea01a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3bb9ea01a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3bb9ea01a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3bb9ea01a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3bb9ea01a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3bb9ea01a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3bb9ea01a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3bb9ea01a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3bb9ea01a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3bb9ea01a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3bb153c6dd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3bb153c6dd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3bb153c6dd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3bb153c6dd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3bb153c6dd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3bb153c6dd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rgbClr val="38761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nodejs.org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934058" y="1213700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700">
                <a:solidFill>
                  <a:schemeClr val="lt1"/>
                </a:solidFill>
              </a:rPr>
              <a:t>      </a:t>
            </a:r>
            <a:r>
              <a:rPr b="1" lang="en" sz="7700">
                <a:solidFill>
                  <a:schemeClr val="lt1"/>
                </a:solidFill>
              </a:rPr>
              <a:t>NODE.JS</a:t>
            </a:r>
            <a:endParaRPr b="1" sz="7700">
              <a:solidFill>
                <a:schemeClr val="lt1"/>
              </a:solidFill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311700" y="28832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1" lang="en" sz="2564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Creating a Simple HTTP Server Using Node.js"</a:t>
            </a:r>
            <a:endParaRPr b="1" sz="2564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4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88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"Handling Requests and Responses Based on URL Paths"</a:t>
            </a:r>
            <a:endParaRPr sz="238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9423" y="854613"/>
            <a:ext cx="1832525" cy="183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311700" y="754125"/>
            <a:ext cx="2808000" cy="3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67347"/>
              <a:buFont typeface="Arial"/>
              <a:buNone/>
            </a:pPr>
            <a:r>
              <a:rPr b="1" lang="en" sz="16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OBJECTIVE</a:t>
            </a:r>
            <a:endParaRPr b="1" sz="16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4169850" y="754125"/>
            <a:ext cx="4141200" cy="38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en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 create a simple HTTP server using Node.js.</a:t>
            </a:r>
            <a:endParaRPr sz="2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5443" lvl="0" marL="45720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en" sz="2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server will handle incoming requests and send appropriate responses based on the URL path.</a:t>
            </a:r>
            <a:endParaRPr sz="2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900">
              <a:solidFill>
                <a:schemeClr val="lt1"/>
              </a:solidFill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2050" y="1389600"/>
            <a:ext cx="3475500" cy="347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990"/>
              <a:buNone/>
            </a:pPr>
            <a:r>
              <a:rPr lang="en" sz="167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Quick Overview of Backend Node.js</a:t>
            </a:r>
            <a:endParaRPr sz="167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40">
              <a:solidFill>
                <a:schemeClr val="lt1"/>
              </a:solidFill>
            </a:endParaRPr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555350" y="1733050"/>
            <a:ext cx="8588700" cy="30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276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40"/>
              <a:buFont typeface="Roboto"/>
              <a:buChar char="●"/>
            </a:pPr>
            <a:r>
              <a:rPr b="1" lang="en" sz="164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What is Node.js?</a:t>
            </a:r>
            <a:endParaRPr b="1" sz="164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4233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21"/>
              <a:buFont typeface="Roboto"/>
              <a:buChar char="○"/>
            </a:pPr>
            <a:r>
              <a:rPr lang="en" sz="182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runtime environment for executing JavaScript on the server.</a:t>
            </a:r>
            <a:endParaRPr sz="182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4233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21"/>
              <a:buFont typeface="Roboto"/>
              <a:buChar char="○"/>
            </a:pPr>
            <a:r>
              <a:rPr lang="en" sz="182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Built on Chrome’s V8 JavaScript engine.</a:t>
            </a:r>
            <a:endParaRPr sz="182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276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40"/>
              <a:buFont typeface="Roboto"/>
              <a:buChar char="●"/>
            </a:pPr>
            <a:r>
              <a:rPr b="1" lang="en" sz="164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Why use Node.js for Backend?</a:t>
            </a:r>
            <a:endParaRPr b="1" sz="164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0583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21"/>
              <a:buFont typeface="Roboto"/>
              <a:buChar char="○"/>
            </a:pPr>
            <a:r>
              <a:rPr lang="en" sz="192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Fast and scalable due to its non-blocking, event-driven architecture.</a:t>
            </a:r>
            <a:endParaRPr sz="192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0583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21"/>
              <a:buFont typeface="Roboto"/>
              <a:buChar char="○"/>
            </a:pPr>
            <a:r>
              <a:rPr lang="en" sz="192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Uses JavaScript, making it easy for frontend developers to transition.</a:t>
            </a:r>
            <a:endParaRPr sz="192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276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40"/>
              <a:buFont typeface="Roboto"/>
              <a:buChar char="●"/>
            </a:pPr>
            <a:r>
              <a:rPr b="1" lang="en" sz="164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Key Features:</a:t>
            </a:r>
            <a:endParaRPr b="1" sz="164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5462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40"/>
              <a:buFont typeface="Roboto"/>
              <a:buChar char="○"/>
            </a:pPr>
            <a:r>
              <a:rPr lang="en" sz="184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Asynchronous I/O operations.</a:t>
            </a:r>
            <a:endParaRPr sz="184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5462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40"/>
              <a:buFont typeface="Roboto"/>
              <a:buChar char="○"/>
            </a:pPr>
            <a:r>
              <a:rPr lang="en" sz="184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NPM (Node Package Manager) for managing dependencies.</a:t>
            </a:r>
            <a:endParaRPr sz="184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5462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40"/>
              <a:buFont typeface="Roboto"/>
              <a:buChar char="○"/>
            </a:pPr>
            <a:r>
              <a:rPr lang="en" sz="184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Lightweight and efficient for real-time applications.</a:t>
            </a:r>
            <a:endParaRPr sz="184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91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966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Setting Up an HTTP Folder</a:t>
            </a:r>
            <a:endParaRPr sz="1966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873075" y="1853850"/>
            <a:ext cx="7688700" cy="7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78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Create a Project Folder:</a:t>
            </a:r>
            <a:endParaRPr sz="1782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1819" lvl="0" marL="457200" rtl="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783"/>
              <a:buFont typeface="Roboto"/>
              <a:buChar char="●"/>
            </a:pPr>
            <a:r>
              <a:rPr lang="en" sz="178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Open your terminal or command prompt.</a:t>
            </a:r>
            <a:endParaRPr sz="1782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1819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83"/>
              <a:buFont typeface="Roboto"/>
              <a:buChar char="●"/>
            </a:pPr>
            <a:r>
              <a:rPr lang="en" sz="178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Run:</a:t>
            </a:r>
            <a:endParaRPr sz="1835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325"/>
          </a:p>
        </p:txBody>
      </p:sp>
      <p:sp>
        <p:nvSpPr>
          <p:cNvPr id="108" name="Google Shape;108;p16"/>
          <p:cNvSpPr/>
          <p:nvPr/>
        </p:nvSpPr>
        <p:spPr>
          <a:xfrm>
            <a:off x="762150" y="2977775"/>
            <a:ext cx="7623300" cy="1580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    Bash                                                                                    copy                                                                                                                                                                                                                              </a:t>
            </a:r>
            <a:endParaRPr sz="21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rgbClr val="88C0D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>
                <a:solidFill>
                  <a:srgbClr val="88C0D0"/>
                </a:solidFill>
              </a:rPr>
              <a:t>mkdir</a:t>
            </a:r>
            <a:r>
              <a:rPr lang="en" sz="2150">
                <a:solidFill>
                  <a:srgbClr val="FFFFFF"/>
                </a:solidFill>
              </a:rPr>
              <a:t> my-http-server</a:t>
            </a:r>
            <a:endParaRPr sz="215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>
                <a:solidFill>
                  <a:srgbClr val="88C0D0"/>
                </a:solidFill>
              </a:rPr>
              <a:t>cd</a:t>
            </a:r>
            <a:r>
              <a:rPr lang="en" sz="2150">
                <a:solidFill>
                  <a:srgbClr val="FFFFFF"/>
                </a:solidFill>
              </a:rPr>
              <a:t> my-http-server</a:t>
            </a:r>
            <a:endParaRPr sz="21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977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Initialize a Node.js Project:</a:t>
            </a:r>
            <a:endParaRPr sz="2744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873075" y="1853850"/>
            <a:ext cx="7688700" cy="7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7655" lvl="0" marL="4572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30"/>
              <a:buFont typeface="Roboto"/>
              <a:buChar char="●"/>
            </a:pPr>
            <a:r>
              <a:rPr b="1" lang="en" sz="1778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This creates a </a:t>
            </a:r>
            <a:r>
              <a:rPr b="1" lang="en" sz="1662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package.json</a:t>
            </a:r>
            <a:r>
              <a:rPr b="1" lang="en" sz="1778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file to manage dependencies.</a:t>
            </a:r>
            <a:endParaRPr b="1" sz="177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0554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63"/>
              <a:buFont typeface="Roboto"/>
              <a:buChar char="●"/>
            </a:pPr>
            <a:r>
              <a:rPr b="1" lang="en" sz="176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run</a:t>
            </a:r>
            <a:endParaRPr b="1" sz="176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007"/>
          </a:p>
        </p:txBody>
      </p:sp>
      <p:sp>
        <p:nvSpPr>
          <p:cNvPr id="115" name="Google Shape;115;p17"/>
          <p:cNvSpPr/>
          <p:nvPr/>
        </p:nvSpPr>
        <p:spPr>
          <a:xfrm>
            <a:off x="762150" y="2633550"/>
            <a:ext cx="7623300" cy="19242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    Bash                                                                                    copy                                                                                                                                                                                                                              </a:t>
            </a:r>
            <a:endParaRPr sz="21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rgbClr val="88C0D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rgbClr val="88C0D0"/>
                </a:solidFill>
              </a:rPr>
              <a:t>npm</a:t>
            </a:r>
            <a:r>
              <a:rPr lang="en" sz="1750">
                <a:solidFill>
                  <a:srgbClr val="FFFFFF"/>
                </a:solidFill>
              </a:rPr>
              <a:t> init </a:t>
            </a:r>
            <a:r>
              <a:rPr lang="en" sz="1750">
                <a:solidFill>
                  <a:srgbClr val="81A1C1"/>
                </a:solidFill>
              </a:rPr>
              <a:t>-y or yarn init</a:t>
            </a:r>
            <a:endParaRPr sz="1750">
              <a:solidFill>
                <a:srgbClr val="81A1C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rgbClr val="88C0D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727650" y="14630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977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Create the Server File:</a:t>
            </a:r>
            <a:endParaRPr sz="3522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873075" y="1853850"/>
            <a:ext cx="7688700" cy="7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6577" lvl="0" marL="45720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88"/>
              <a:buFont typeface="Roboto"/>
              <a:buChar char="●"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Create the Server File: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●"/>
            </a:pPr>
            <a:r>
              <a:rPr b="1" lang="en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This is the entry point file where the server can be executed from.</a:t>
            </a:r>
            <a:endParaRPr b="1"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762150" y="2633550"/>
            <a:ext cx="7623300" cy="19242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    Bash                                                                                    copy                                                                                                                                                                                                                              </a:t>
            </a:r>
            <a:endParaRPr sz="21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rgbClr val="88C0D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50">
                <a:solidFill>
                  <a:srgbClr val="88C0D0"/>
                </a:solidFill>
              </a:rPr>
              <a:t>touch</a:t>
            </a:r>
            <a:r>
              <a:rPr lang="en" sz="2350">
                <a:solidFill>
                  <a:srgbClr val="FFFFFF"/>
                </a:solidFill>
              </a:rPr>
              <a:t> server.js or index.js</a:t>
            </a:r>
            <a:endParaRPr sz="23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88C0D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rgbClr val="88C0D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Folder Structure:</a:t>
            </a:r>
            <a:endParaRPr sz="4522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546725" y="2355425"/>
            <a:ext cx="7623300" cy="1555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sz="21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4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                                                                      copy </a:t>
            </a:r>
            <a:r>
              <a:rPr lang="en" sz="21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                                                                                                                                         </a:t>
            </a:r>
            <a:endParaRPr sz="19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>
                <a:solidFill>
                  <a:srgbClr val="FFFFFF"/>
                </a:solidFill>
              </a:rPr>
              <a:t>my-http-server/index.js</a:t>
            </a:r>
            <a:endParaRPr sz="20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>
                <a:solidFill>
                  <a:srgbClr val="FFFFFF"/>
                </a:solidFill>
              </a:rPr>
              <a:t>├── server.js/index.js</a:t>
            </a:r>
            <a:endParaRPr sz="20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>
                <a:solidFill>
                  <a:srgbClr val="FFFFFF"/>
                </a:solidFill>
              </a:rPr>
              <a:t>└── package.json</a:t>
            </a:r>
            <a:endParaRPr sz="20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rgbClr val="88C0D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077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Downloading Node.js and Yarn</a:t>
            </a:r>
            <a:endParaRPr sz="2077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842575" y="2097300"/>
            <a:ext cx="7688700" cy="16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Download Node.js:</a:t>
            </a:r>
            <a:endParaRPr b="1"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Visit the official Node.js website: </a:t>
            </a:r>
            <a:r>
              <a:rPr lang="en" sz="1700" u="sng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https://nodejs.org.</a:t>
            </a:r>
            <a:endParaRPr sz="1700"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Download the LTS (Long Term Support) version for stability.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Follow the installation instructions for your operating system.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Verify installation:</a:t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698975" y="3719825"/>
            <a:ext cx="849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842575" y="3719850"/>
            <a:ext cx="7880100" cy="8856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Bash    </a:t>
            </a:r>
            <a:r>
              <a:rPr lang="en" sz="9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" sz="14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Copy </a:t>
            </a:r>
            <a:endParaRPr sz="14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chemeClr val="lt1"/>
                </a:solidFill>
              </a:rPr>
              <a:t>node -v  or   node </a:t>
            </a:r>
            <a:r>
              <a:rPr lang="en" sz="1550">
                <a:solidFill>
                  <a:schemeClr val="lt1"/>
                </a:solidFill>
              </a:rPr>
              <a:t>--version</a:t>
            </a:r>
            <a:endParaRPr sz="15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chemeClr val="lt1"/>
                </a:solidFill>
              </a:rPr>
              <a:t>npm -v   or    npm --version</a:t>
            </a:r>
            <a:endParaRPr sz="15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66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Download Yarn (Optional):</a:t>
            </a:r>
            <a:endParaRPr sz="2744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 txBox="1"/>
          <p:nvPr/>
        </p:nvSpPr>
        <p:spPr>
          <a:xfrm>
            <a:off x="842575" y="1733050"/>
            <a:ext cx="75756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arn is a faster alternative to npm for managing dependencies.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"/>
              <a:buChar char="●"/>
            </a:pPr>
            <a:r>
              <a:rPr lang="en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Install Yarn globally via npm: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</a:pPr>
            <a:r>
              <a:t/>
            </a:r>
            <a:endParaRPr b="1"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440375" y="3194850"/>
            <a:ext cx="849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842575" y="2885550"/>
            <a:ext cx="7880100" cy="858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Bash                                                                                                                                                                             Copy</a:t>
            </a:r>
            <a:endParaRPr sz="12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chemeClr val="lt1"/>
                </a:solidFill>
              </a:rPr>
              <a:t>npm install -g yarn</a:t>
            </a:r>
            <a:endParaRPr sz="15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729450" y="4174650"/>
            <a:ext cx="8088900" cy="792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Bash                                                                                                                                                                            Copy</a:t>
            </a:r>
            <a:endParaRPr sz="12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lt1"/>
                </a:solidFill>
              </a:rPr>
              <a:t>yarn -v   or    yarn  -</a:t>
            </a:r>
            <a:r>
              <a:rPr lang="en" sz="1450">
                <a:solidFill>
                  <a:schemeClr val="lt1"/>
                </a:solidFill>
              </a:rPr>
              <a:t> -</a:t>
            </a:r>
            <a:r>
              <a:rPr lang="en" sz="1450">
                <a:solidFill>
                  <a:schemeClr val="lt1"/>
                </a:solidFill>
              </a:rPr>
              <a:t> version</a:t>
            </a:r>
            <a:endParaRPr sz="1450">
              <a:solidFill>
                <a:schemeClr val="lt1"/>
              </a:solidFill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842575" y="3815700"/>
            <a:ext cx="60081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Verify installation: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855450" y="873500"/>
            <a:ext cx="7688700" cy="6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966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Setting Up package.json</a:t>
            </a:r>
            <a:endParaRPr sz="241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744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8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3">
              <a:solidFill>
                <a:srgbClr val="000000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422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917400" y="1505300"/>
            <a:ext cx="7309200" cy="16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What is </a:t>
            </a:r>
            <a:r>
              <a:rPr b="1" lang="en" sz="11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package.json</a:t>
            </a:r>
            <a:r>
              <a:rPr b="1"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b="1"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 configuration file for Node.js projects.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Contains metadata about the project (name, version, scripts, dependencies, etc.).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Steps to Create </a:t>
            </a:r>
            <a:r>
              <a:rPr b="1" lang="en" sz="11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package.json</a:t>
            </a:r>
            <a:r>
              <a:rPr b="1"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AutoNum type="arabicPeriod"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Open your terminal in the project folder.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AutoNum type="arabicPeriod"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Run the following command to initialize a new Node.js project: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" name="Google Shape;153;p22"/>
          <p:cNvSpPr/>
          <p:nvPr/>
        </p:nvSpPr>
        <p:spPr>
          <a:xfrm>
            <a:off x="1122550" y="3400125"/>
            <a:ext cx="6587400" cy="541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lt1"/>
                </a:solidFill>
              </a:rPr>
              <a:t>npm init -y      or      yarn init</a:t>
            </a:r>
            <a:endParaRPr sz="1350">
              <a:solidFill>
                <a:schemeClr val="lt1"/>
              </a:solidFill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917400" y="4157950"/>
            <a:ext cx="65334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This creates a </a:t>
            </a:r>
            <a:r>
              <a:rPr lang="en" sz="11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package.json</a:t>
            </a: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file with default values.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855450" y="873500"/>
            <a:ext cx="7688700" cy="3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lang="en" sz="131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Edit the </a:t>
            </a:r>
            <a:r>
              <a:rPr b="0" lang="en" sz="1061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package.json</a:t>
            </a:r>
            <a:r>
              <a:rPr b="0" lang="en" sz="131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file to include the following:</a:t>
            </a:r>
            <a:endParaRPr sz="2522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744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8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3">
              <a:solidFill>
                <a:srgbClr val="000000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422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3"/>
          <p:cNvSpPr/>
          <p:nvPr/>
        </p:nvSpPr>
        <p:spPr>
          <a:xfrm>
            <a:off x="1000050" y="1301275"/>
            <a:ext cx="7399500" cy="2390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81A1C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81A1C1"/>
                </a:solidFill>
              </a:rPr>
              <a:t>{</a:t>
            </a:r>
            <a:endParaRPr b="1" sz="11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FFFFFF"/>
                </a:solidFill>
              </a:rPr>
              <a:t>  </a:t>
            </a:r>
            <a:r>
              <a:rPr b="1" lang="en" sz="1150">
                <a:solidFill>
                  <a:srgbClr val="81A1C1"/>
                </a:solidFill>
              </a:rPr>
              <a:t>"name":</a:t>
            </a:r>
            <a:r>
              <a:rPr b="1" lang="en" sz="1150">
                <a:solidFill>
                  <a:srgbClr val="FFFFFF"/>
                </a:solidFill>
              </a:rPr>
              <a:t> </a:t>
            </a:r>
            <a:r>
              <a:rPr b="1" lang="en" sz="1150">
                <a:solidFill>
                  <a:srgbClr val="A3BE8C"/>
                </a:solidFill>
              </a:rPr>
              <a:t>"http-server"</a:t>
            </a:r>
            <a:r>
              <a:rPr b="1" lang="en" sz="1150">
                <a:solidFill>
                  <a:srgbClr val="81A1C1"/>
                </a:solidFill>
              </a:rPr>
              <a:t>,</a:t>
            </a:r>
            <a:endParaRPr b="1" sz="11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FFFFFF"/>
                </a:solidFill>
              </a:rPr>
              <a:t>  </a:t>
            </a:r>
            <a:r>
              <a:rPr b="1" lang="en" sz="1150">
                <a:solidFill>
                  <a:srgbClr val="81A1C1"/>
                </a:solidFill>
              </a:rPr>
              <a:t>"version":</a:t>
            </a:r>
            <a:r>
              <a:rPr b="1" lang="en" sz="1150">
                <a:solidFill>
                  <a:srgbClr val="FFFFFF"/>
                </a:solidFill>
              </a:rPr>
              <a:t> </a:t>
            </a:r>
            <a:r>
              <a:rPr b="1" lang="en" sz="1150">
                <a:solidFill>
                  <a:srgbClr val="A3BE8C"/>
                </a:solidFill>
              </a:rPr>
              <a:t>"1.0.0"</a:t>
            </a:r>
            <a:r>
              <a:rPr b="1" lang="en" sz="1150">
                <a:solidFill>
                  <a:srgbClr val="81A1C1"/>
                </a:solidFill>
              </a:rPr>
              <a:t>,</a:t>
            </a:r>
            <a:endParaRPr b="1" sz="11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FFFFFF"/>
                </a:solidFill>
              </a:rPr>
              <a:t>  </a:t>
            </a:r>
            <a:r>
              <a:rPr b="1" lang="en" sz="1150">
                <a:solidFill>
                  <a:srgbClr val="81A1C1"/>
                </a:solidFill>
              </a:rPr>
              <a:t>"description":</a:t>
            </a:r>
            <a:r>
              <a:rPr b="1" lang="en" sz="1150">
                <a:solidFill>
                  <a:srgbClr val="FFFFFF"/>
                </a:solidFill>
              </a:rPr>
              <a:t> </a:t>
            </a:r>
            <a:r>
              <a:rPr b="1" lang="en" sz="1150">
                <a:solidFill>
                  <a:srgbClr val="A3BE8C"/>
                </a:solidFill>
              </a:rPr>
              <a:t>"A node js with http"</a:t>
            </a:r>
            <a:r>
              <a:rPr b="1" lang="en" sz="1150">
                <a:solidFill>
                  <a:srgbClr val="81A1C1"/>
                </a:solidFill>
              </a:rPr>
              <a:t>,</a:t>
            </a:r>
            <a:endParaRPr b="1" sz="11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FFFFFF"/>
                </a:solidFill>
              </a:rPr>
              <a:t>  </a:t>
            </a:r>
            <a:r>
              <a:rPr b="1" lang="en" sz="1150">
                <a:solidFill>
                  <a:srgbClr val="81A1C1"/>
                </a:solidFill>
              </a:rPr>
              <a:t>"main":</a:t>
            </a:r>
            <a:r>
              <a:rPr b="1" lang="en" sz="1150">
                <a:solidFill>
                  <a:srgbClr val="FFFFFF"/>
                </a:solidFill>
              </a:rPr>
              <a:t> </a:t>
            </a:r>
            <a:r>
              <a:rPr b="1" lang="en" sz="1150">
                <a:solidFill>
                  <a:srgbClr val="A3BE8C"/>
                </a:solidFill>
              </a:rPr>
              <a:t>"index.js"</a:t>
            </a:r>
            <a:r>
              <a:rPr b="1" lang="en" sz="1150">
                <a:solidFill>
                  <a:srgbClr val="81A1C1"/>
                </a:solidFill>
              </a:rPr>
              <a:t>,</a:t>
            </a:r>
            <a:endParaRPr b="1" sz="11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FFFFFF"/>
                </a:solidFill>
              </a:rPr>
              <a:t>  </a:t>
            </a:r>
            <a:r>
              <a:rPr b="1" lang="en" sz="1150">
                <a:solidFill>
                  <a:srgbClr val="81A1C1"/>
                </a:solidFill>
              </a:rPr>
              <a:t>"author":</a:t>
            </a:r>
            <a:r>
              <a:rPr b="1" lang="en" sz="1150">
                <a:solidFill>
                  <a:srgbClr val="FFFFFF"/>
                </a:solidFill>
              </a:rPr>
              <a:t> </a:t>
            </a:r>
            <a:r>
              <a:rPr b="1" lang="en" sz="1150">
                <a:solidFill>
                  <a:srgbClr val="A3BE8C"/>
                </a:solidFill>
              </a:rPr>
              <a:t>"your name"</a:t>
            </a:r>
            <a:r>
              <a:rPr b="1" lang="en" sz="1150">
                <a:solidFill>
                  <a:srgbClr val="81A1C1"/>
                </a:solidFill>
              </a:rPr>
              <a:t>,</a:t>
            </a:r>
            <a:endParaRPr b="1" sz="11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FFFFFF"/>
                </a:solidFill>
              </a:rPr>
              <a:t>  </a:t>
            </a:r>
            <a:r>
              <a:rPr b="1" lang="en" sz="1150">
                <a:solidFill>
                  <a:srgbClr val="81A1C1"/>
                </a:solidFill>
              </a:rPr>
              <a:t>"license":</a:t>
            </a:r>
            <a:r>
              <a:rPr b="1" lang="en" sz="1150">
                <a:solidFill>
                  <a:srgbClr val="FFFFFF"/>
                </a:solidFill>
              </a:rPr>
              <a:t> </a:t>
            </a:r>
            <a:r>
              <a:rPr b="1" lang="en" sz="1150">
                <a:solidFill>
                  <a:srgbClr val="A3BE8C"/>
                </a:solidFill>
              </a:rPr>
              <a:t>"MIT"</a:t>
            </a:r>
            <a:r>
              <a:rPr b="1" lang="en" sz="1150">
                <a:solidFill>
                  <a:srgbClr val="81A1C1"/>
                </a:solidFill>
              </a:rPr>
              <a:t>,</a:t>
            </a:r>
            <a:endParaRPr b="1" sz="11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FFFFFF"/>
                </a:solidFill>
              </a:rPr>
              <a:t>  </a:t>
            </a:r>
            <a:r>
              <a:rPr b="1" lang="en" sz="1150">
                <a:solidFill>
                  <a:srgbClr val="81A1C1"/>
                </a:solidFill>
              </a:rPr>
              <a:t>"scripts":</a:t>
            </a:r>
            <a:r>
              <a:rPr b="1" lang="en" sz="1150">
                <a:solidFill>
                  <a:srgbClr val="FFFFFF"/>
                </a:solidFill>
              </a:rPr>
              <a:t> </a:t>
            </a:r>
            <a:r>
              <a:rPr b="1" lang="en" sz="1150">
                <a:solidFill>
                  <a:srgbClr val="81A1C1"/>
                </a:solidFill>
              </a:rPr>
              <a:t>{</a:t>
            </a:r>
            <a:endParaRPr b="1" sz="11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FFFFFF"/>
                </a:solidFill>
              </a:rPr>
              <a:t>    </a:t>
            </a:r>
            <a:r>
              <a:rPr b="1" lang="en" sz="1150">
                <a:solidFill>
                  <a:srgbClr val="81A1C1"/>
                </a:solidFill>
              </a:rPr>
              <a:t>"start":</a:t>
            </a:r>
            <a:r>
              <a:rPr b="1" lang="en" sz="1150">
                <a:solidFill>
                  <a:srgbClr val="FFFFFF"/>
                </a:solidFill>
              </a:rPr>
              <a:t> </a:t>
            </a:r>
            <a:r>
              <a:rPr b="1" lang="en" sz="1150">
                <a:solidFill>
                  <a:srgbClr val="A3BE8C"/>
                </a:solidFill>
              </a:rPr>
              <a:t>"node index.js"</a:t>
            </a:r>
            <a:endParaRPr b="1" sz="11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FFFFFF"/>
                </a:solidFill>
              </a:rPr>
              <a:t>  </a:t>
            </a:r>
            <a:r>
              <a:rPr b="1" lang="en" sz="1150">
                <a:solidFill>
                  <a:srgbClr val="81A1C1"/>
                </a:solidFill>
              </a:rPr>
              <a:t>}</a:t>
            </a:r>
            <a:endParaRPr b="1" sz="11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81A1C1"/>
                </a:solidFill>
              </a:rPr>
              <a:t>}</a:t>
            </a:r>
            <a:endParaRPr b="1" sz="1150">
              <a:solidFill>
                <a:srgbClr val="81A1C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917400" y="3598650"/>
            <a:ext cx="74820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Key Fields in </a:t>
            </a:r>
            <a:r>
              <a:rPr b="1" lang="en" sz="10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package.json</a:t>
            </a: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b="1" lang="en" sz="10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The name of your project.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b="1" lang="en" sz="10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version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The current version of your project.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b="1" lang="en" sz="10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description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A short description of your project.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b="1" lang="en" sz="10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The entry point of your application (e.g., </a:t>
            </a:r>
            <a:r>
              <a:rPr lang="en" sz="10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index.js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b="1" lang="en" sz="10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scripts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Custom commands to run your project (e.g., </a:t>
            </a:r>
            <a:r>
              <a:rPr lang="en" sz="10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start</a:t>
            </a: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855450" y="873500"/>
            <a:ext cx="7688700" cy="3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44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Starting the Server:</a:t>
            </a:r>
            <a:endParaRPr b="0" sz="131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744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8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3">
              <a:solidFill>
                <a:srgbClr val="000000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422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1028850" y="2048262"/>
            <a:ext cx="7399500" cy="401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88C0D0"/>
                </a:solidFill>
              </a:rPr>
              <a:t>node</a:t>
            </a:r>
            <a:r>
              <a:rPr lang="en" sz="1450">
                <a:solidFill>
                  <a:srgbClr val="FFFFFF"/>
                </a:solidFill>
              </a:rPr>
              <a:t> index.js</a:t>
            </a:r>
            <a:endParaRPr sz="1850">
              <a:solidFill>
                <a:schemeClr val="lt1"/>
              </a:solidFill>
            </a:endParaRPr>
          </a:p>
        </p:txBody>
      </p:sp>
      <p:sp>
        <p:nvSpPr>
          <p:cNvPr id="168" name="Google Shape;168;p24"/>
          <p:cNvSpPr txBox="1"/>
          <p:nvPr/>
        </p:nvSpPr>
        <p:spPr>
          <a:xfrm>
            <a:off x="1061850" y="1281925"/>
            <a:ext cx="70203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Using </a:t>
            </a:r>
            <a:r>
              <a:rPr b="1" lang="en" sz="12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node index.js</a:t>
            </a: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Run the following command in the terminal: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1052250" y="2529663"/>
            <a:ext cx="72951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server will start and listen on port 3000.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1028850" y="2931363"/>
            <a:ext cx="64428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Using </a:t>
            </a:r>
            <a:r>
              <a:rPr b="1" lang="en" sz="12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yarn start</a:t>
            </a: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First, install Yarn globally (if not already installed):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1000050" y="3572225"/>
            <a:ext cx="7399500" cy="401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lt1"/>
                </a:solidFill>
              </a:rPr>
              <a:t>npm install -g yarn</a:t>
            </a:r>
            <a:endParaRPr sz="1350">
              <a:solidFill>
                <a:schemeClr val="lt1"/>
              </a:solidFill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1158650" y="4176150"/>
            <a:ext cx="69234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Then, run the following command:                                                           Next Slide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>
            <p:ph type="title"/>
          </p:nvPr>
        </p:nvSpPr>
        <p:spPr>
          <a:xfrm>
            <a:off x="855450" y="873500"/>
            <a:ext cx="7688700" cy="3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44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Starting the Server:</a:t>
            </a:r>
            <a:endParaRPr b="0" sz="131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744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8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3">
              <a:solidFill>
                <a:srgbClr val="000000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422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5"/>
          <p:cNvSpPr/>
          <p:nvPr/>
        </p:nvSpPr>
        <p:spPr>
          <a:xfrm>
            <a:off x="920600" y="1663199"/>
            <a:ext cx="7399500" cy="401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88C0D0"/>
                </a:solidFill>
              </a:rPr>
              <a:t>yarn</a:t>
            </a:r>
            <a:r>
              <a:rPr lang="en" sz="1250">
                <a:solidFill>
                  <a:srgbClr val="FFFFFF"/>
                </a:solidFill>
              </a:rPr>
              <a:t> start</a:t>
            </a:r>
            <a:endParaRPr sz="1750">
              <a:solidFill>
                <a:srgbClr val="88C0D0"/>
              </a:solidFill>
            </a:endParaRPr>
          </a:p>
        </p:txBody>
      </p:sp>
      <p:sp>
        <p:nvSpPr>
          <p:cNvPr id="179" name="Google Shape;179;p25"/>
          <p:cNvSpPr txBox="1"/>
          <p:nvPr/>
        </p:nvSpPr>
        <p:spPr>
          <a:xfrm>
            <a:off x="1061850" y="1281925"/>
            <a:ext cx="70203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Then, run the following command: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25"/>
          <p:cNvSpPr txBox="1"/>
          <p:nvPr/>
        </p:nvSpPr>
        <p:spPr>
          <a:xfrm>
            <a:off x="972800" y="2240125"/>
            <a:ext cx="72951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This will execute the </a:t>
            </a:r>
            <a:r>
              <a:rPr lang="en" sz="12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start</a:t>
            </a: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script defined in </a:t>
            </a:r>
            <a:r>
              <a:rPr lang="en" sz="12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package.json</a:t>
            </a: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You can use </a:t>
            </a:r>
            <a:r>
              <a:rPr b="1" lang="en" sz="17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“ctrl c” </a:t>
            </a: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 terminate the server from working.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920600" y="2877597"/>
            <a:ext cx="64428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Terminal Commands Summary: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1000050" y="3309875"/>
            <a:ext cx="7399500" cy="1317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rgbClr val="636F8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636F88"/>
                </a:solidFill>
              </a:rPr>
              <a:t># Initialize package.json</a:t>
            </a:r>
            <a:r>
              <a:rPr lang="en" sz="1550">
                <a:solidFill>
                  <a:srgbClr val="FFFFFF"/>
                </a:solidFill>
              </a:rPr>
              <a:t> ………………………………….</a:t>
            </a:r>
            <a:r>
              <a:rPr lang="en" sz="1550">
                <a:solidFill>
                  <a:srgbClr val="88C0D0"/>
                </a:solidFill>
              </a:rPr>
              <a:t>npm</a:t>
            </a:r>
            <a:r>
              <a:rPr lang="en" sz="1550">
                <a:solidFill>
                  <a:srgbClr val="FFFFFF"/>
                </a:solidFill>
              </a:rPr>
              <a:t> init </a:t>
            </a:r>
            <a:r>
              <a:rPr lang="en" sz="1550">
                <a:solidFill>
                  <a:srgbClr val="81A1C1"/>
                </a:solidFill>
              </a:rPr>
              <a:t>-y</a:t>
            </a:r>
            <a:endParaRPr sz="15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636F88"/>
                </a:solidFill>
              </a:rPr>
              <a:t># Install Yarn (optional)</a:t>
            </a:r>
            <a:r>
              <a:rPr lang="en" sz="1550">
                <a:solidFill>
                  <a:srgbClr val="FFFFFF"/>
                </a:solidFill>
              </a:rPr>
              <a:t> …………………………………..</a:t>
            </a:r>
            <a:r>
              <a:rPr lang="en" sz="1550">
                <a:solidFill>
                  <a:srgbClr val="88C0D0"/>
                </a:solidFill>
              </a:rPr>
              <a:t>npm</a:t>
            </a:r>
            <a:r>
              <a:rPr lang="en" sz="1550">
                <a:solidFill>
                  <a:srgbClr val="FFFFFF"/>
                </a:solidFill>
              </a:rPr>
              <a:t> </a:t>
            </a:r>
            <a:r>
              <a:rPr lang="en" sz="1550">
                <a:solidFill>
                  <a:srgbClr val="88C0D0"/>
                </a:solidFill>
              </a:rPr>
              <a:t>install</a:t>
            </a:r>
            <a:r>
              <a:rPr lang="en" sz="1550">
                <a:solidFill>
                  <a:srgbClr val="FFFFFF"/>
                </a:solidFill>
              </a:rPr>
              <a:t> </a:t>
            </a:r>
            <a:r>
              <a:rPr lang="en" sz="1550">
                <a:solidFill>
                  <a:srgbClr val="81A1C1"/>
                </a:solidFill>
              </a:rPr>
              <a:t>-g</a:t>
            </a:r>
            <a:r>
              <a:rPr lang="en" sz="1550">
                <a:solidFill>
                  <a:srgbClr val="FFFFFF"/>
                </a:solidFill>
              </a:rPr>
              <a:t> </a:t>
            </a:r>
            <a:r>
              <a:rPr lang="en" sz="1550">
                <a:solidFill>
                  <a:srgbClr val="88C0D0"/>
                </a:solidFill>
              </a:rPr>
              <a:t>yarn</a:t>
            </a:r>
            <a:endParaRPr sz="15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636F88"/>
                </a:solidFill>
              </a:rPr>
              <a:t># Start the server using Node.js</a:t>
            </a:r>
            <a:r>
              <a:rPr lang="en" sz="1550">
                <a:solidFill>
                  <a:srgbClr val="FFFFFF"/>
                </a:solidFill>
              </a:rPr>
              <a:t> ……..…………………..</a:t>
            </a:r>
            <a:r>
              <a:rPr lang="en" sz="1550">
                <a:solidFill>
                  <a:srgbClr val="88C0D0"/>
                </a:solidFill>
              </a:rPr>
              <a:t>node</a:t>
            </a:r>
            <a:r>
              <a:rPr lang="en" sz="1550">
                <a:solidFill>
                  <a:srgbClr val="FFFFFF"/>
                </a:solidFill>
              </a:rPr>
              <a:t> index.js</a:t>
            </a:r>
            <a:endParaRPr sz="15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636F88"/>
                </a:solidFill>
              </a:rPr>
              <a:t># Start the server using Yarn</a:t>
            </a:r>
            <a:r>
              <a:rPr lang="en" sz="1550">
                <a:solidFill>
                  <a:srgbClr val="FFFFFF"/>
                </a:solidFill>
              </a:rPr>
              <a:t> …………………………….. </a:t>
            </a:r>
            <a:r>
              <a:rPr lang="en" sz="1550">
                <a:solidFill>
                  <a:srgbClr val="88C0D0"/>
                </a:solidFill>
              </a:rPr>
              <a:t>yarn</a:t>
            </a:r>
            <a:r>
              <a:rPr lang="en" sz="1550">
                <a:solidFill>
                  <a:srgbClr val="FFFFFF"/>
                </a:solidFill>
              </a:rPr>
              <a:t> start</a:t>
            </a:r>
            <a:endParaRPr sz="15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type="title"/>
          </p:nvPr>
        </p:nvSpPr>
        <p:spPr>
          <a:xfrm>
            <a:off x="729450" y="1318650"/>
            <a:ext cx="7688700" cy="7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 Explanation - Importing the HTTP Mo</a:t>
            </a:r>
            <a:r>
              <a:rPr lang="en" sz="16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dule</a:t>
            </a:r>
            <a:endParaRPr sz="16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Importing the HTTP Module</a:t>
            </a:r>
            <a:endParaRPr sz="1966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866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6"/>
          <p:cNvSpPr txBox="1"/>
          <p:nvPr/>
        </p:nvSpPr>
        <p:spPr>
          <a:xfrm>
            <a:off x="440375" y="3194850"/>
            <a:ext cx="849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842575" y="2327825"/>
            <a:ext cx="7575600" cy="12522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Vs code                                                                                                                                  </a:t>
            </a:r>
            <a:r>
              <a:rPr lang="en" sz="16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copy</a:t>
            </a:r>
            <a:r>
              <a:rPr lang="en" sz="14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                                                                                                                  </a:t>
            </a:r>
            <a:r>
              <a:rPr lang="en" sz="17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  </a:t>
            </a:r>
            <a:endParaRPr sz="17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>
                <a:solidFill>
                  <a:srgbClr val="81A1C1"/>
                </a:solidFill>
              </a:rPr>
              <a:t>const</a:t>
            </a:r>
            <a:r>
              <a:rPr lang="en" sz="2050">
                <a:solidFill>
                  <a:srgbClr val="FFFFFF"/>
                </a:solidFill>
              </a:rPr>
              <a:t> http </a:t>
            </a:r>
            <a:r>
              <a:rPr lang="en" sz="2050">
                <a:solidFill>
                  <a:srgbClr val="81A1C1"/>
                </a:solidFill>
              </a:rPr>
              <a:t>=</a:t>
            </a:r>
            <a:r>
              <a:rPr lang="en" sz="2050">
                <a:solidFill>
                  <a:srgbClr val="FFFFFF"/>
                </a:solidFill>
              </a:rPr>
              <a:t> </a:t>
            </a:r>
            <a:r>
              <a:rPr lang="en" sz="2050">
                <a:solidFill>
                  <a:srgbClr val="88C0D0"/>
                </a:solidFill>
              </a:rPr>
              <a:t>require</a:t>
            </a:r>
            <a:r>
              <a:rPr lang="en" sz="2050">
                <a:solidFill>
                  <a:srgbClr val="81A1C1"/>
                </a:solidFill>
              </a:rPr>
              <a:t>(</a:t>
            </a:r>
            <a:r>
              <a:rPr lang="en" sz="2050">
                <a:solidFill>
                  <a:srgbClr val="A3BE8C"/>
                </a:solidFill>
              </a:rPr>
              <a:t>'http'</a:t>
            </a:r>
            <a:r>
              <a:rPr lang="en" sz="2050">
                <a:solidFill>
                  <a:srgbClr val="81A1C1"/>
                </a:solidFill>
              </a:rPr>
              <a:t>);</a:t>
            </a:r>
            <a:endParaRPr sz="26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729450" y="3747700"/>
            <a:ext cx="7085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What it does:</a:t>
            </a:r>
            <a:b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Imports the </a:t>
            </a:r>
            <a:r>
              <a:rPr lang="en" sz="14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http</a:t>
            </a: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module, which is used to create an HTTP server.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Char char="●"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Why it’s important:</a:t>
            </a:r>
            <a:b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Without this module, we cannot create a server in Node.js.</a:t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1" name="Google Shape;19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3175" y="1035150"/>
            <a:ext cx="1125000" cy="11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/>
          <p:nvPr>
            <p:ph type="title"/>
          </p:nvPr>
        </p:nvSpPr>
        <p:spPr>
          <a:xfrm>
            <a:off x="729450" y="1318650"/>
            <a:ext cx="7688700" cy="7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 Explanation - Defining the Request Handler Function</a:t>
            </a:r>
            <a:endParaRPr sz="1855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4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Defining the Request Handler Function</a:t>
            </a:r>
            <a:endParaRPr sz="218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866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7"/>
          <p:cNvSpPr txBox="1"/>
          <p:nvPr/>
        </p:nvSpPr>
        <p:spPr>
          <a:xfrm>
            <a:off x="440375" y="3194850"/>
            <a:ext cx="849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Google Shape;198;p27"/>
          <p:cNvSpPr/>
          <p:nvPr/>
        </p:nvSpPr>
        <p:spPr>
          <a:xfrm>
            <a:off x="842575" y="2327825"/>
            <a:ext cx="7575600" cy="9852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Vs code                                                                                                                                  </a:t>
            </a:r>
            <a:r>
              <a:rPr lang="en" sz="16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copy</a:t>
            </a:r>
            <a:r>
              <a:rPr lang="en" sz="14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                                                                                                                  </a:t>
            </a:r>
            <a:r>
              <a:rPr lang="en" sz="17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  </a:t>
            </a:r>
            <a:endParaRPr sz="17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81A1C1"/>
                </a:solidFill>
              </a:rPr>
              <a:t>const</a:t>
            </a:r>
            <a:r>
              <a:rPr lang="en" sz="1550">
                <a:solidFill>
                  <a:srgbClr val="FFFFFF"/>
                </a:solidFill>
              </a:rPr>
              <a:t> </a:t>
            </a:r>
            <a:r>
              <a:rPr lang="en" sz="1550">
                <a:solidFill>
                  <a:srgbClr val="88C0D0"/>
                </a:solidFill>
              </a:rPr>
              <a:t>handleAllRequest</a:t>
            </a:r>
            <a:r>
              <a:rPr lang="en" sz="1550">
                <a:solidFill>
                  <a:srgbClr val="FFFFFF"/>
                </a:solidFill>
              </a:rPr>
              <a:t> </a:t>
            </a:r>
            <a:r>
              <a:rPr lang="en" sz="1550">
                <a:solidFill>
                  <a:srgbClr val="81A1C1"/>
                </a:solidFill>
              </a:rPr>
              <a:t>=</a:t>
            </a:r>
            <a:r>
              <a:rPr lang="en" sz="1550">
                <a:solidFill>
                  <a:srgbClr val="FFFFFF"/>
                </a:solidFill>
              </a:rPr>
              <a:t> </a:t>
            </a:r>
            <a:r>
              <a:rPr lang="en" sz="1550">
                <a:solidFill>
                  <a:srgbClr val="81A1C1"/>
                </a:solidFill>
              </a:rPr>
              <a:t>(</a:t>
            </a:r>
            <a:r>
              <a:rPr lang="en" sz="1550">
                <a:solidFill>
                  <a:srgbClr val="FFFFFF"/>
                </a:solidFill>
              </a:rPr>
              <a:t>requestObject</a:t>
            </a:r>
            <a:r>
              <a:rPr lang="en" sz="1550">
                <a:solidFill>
                  <a:srgbClr val="81A1C1"/>
                </a:solidFill>
              </a:rPr>
              <a:t>,</a:t>
            </a:r>
            <a:r>
              <a:rPr lang="en" sz="1550">
                <a:solidFill>
                  <a:srgbClr val="FFFFFF"/>
                </a:solidFill>
              </a:rPr>
              <a:t> responseObject</a:t>
            </a:r>
            <a:r>
              <a:rPr lang="en" sz="1550">
                <a:solidFill>
                  <a:srgbClr val="81A1C1"/>
                </a:solidFill>
              </a:rPr>
              <a:t>)</a:t>
            </a:r>
            <a:r>
              <a:rPr lang="en" sz="1550">
                <a:solidFill>
                  <a:srgbClr val="FFFFFF"/>
                </a:solidFill>
              </a:rPr>
              <a:t> </a:t>
            </a:r>
            <a:r>
              <a:rPr lang="en" sz="1550">
                <a:solidFill>
                  <a:srgbClr val="81A1C1"/>
                </a:solidFill>
              </a:rPr>
              <a:t>=&gt;</a:t>
            </a:r>
            <a:r>
              <a:rPr lang="en" sz="1550">
                <a:solidFill>
                  <a:srgbClr val="FFFFFF"/>
                </a:solidFill>
              </a:rPr>
              <a:t> </a:t>
            </a:r>
            <a:r>
              <a:rPr lang="en" sz="1550">
                <a:solidFill>
                  <a:srgbClr val="81A1C1"/>
                </a:solidFill>
              </a:rPr>
              <a:t>{</a:t>
            </a:r>
            <a:endParaRPr sz="15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FFFFFF"/>
                </a:solidFill>
              </a:rPr>
              <a:t>    console</a:t>
            </a:r>
            <a:r>
              <a:rPr lang="en" sz="1550">
                <a:solidFill>
                  <a:srgbClr val="81A1C1"/>
                </a:solidFill>
              </a:rPr>
              <a:t>.</a:t>
            </a:r>
            <a:r>
              <a:rPr lang="en" sz="1550">
                <a:solidFill>
                  <a:srgbClr val="88C0D0"/>
                </a:solidFill>
              </a:rPr>
              <a:t>log</a:t>
            </a:r>
            <a:r>
              <a:rPr lang="en" sz="1550">
                <a:solidFill>
                  <a:srgbClr val="81A1C1"/>
                </a:solidFill>
              </a:rPr>
              <a:t>(</a:t>
            </a:r>
            <a:r>
              <a:rPr lang="en" sz="1550">
                <a:solidFill>
                  <a:srgbClr val="A3BE8C"/>
                </a:solidFill>
              </a:rPr>
              <a:t>'Hi, I am Handling a request'</a:t>
            </a:r>
            <a:r>
              <a:rPr lang="en" sz="1550">
                <a:solidFill>
                  <a:srgbClr val="81A1C1"/>
                </a:solidFill>
              </a:rPr>
              <a:t>);</a:t>
            </a:r>
            <a:endParaRPr sz="1550">
              <a:solidFill>
                <a:srgbClr val="81A1C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rgbClr val="81A1C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7"/>
          <p:cNvSpPr txBox="1"/>
          <p:nvPr/>
        </p:nvSpPr>
        <p:spPr>
          <a:xfrm>
            <a:off x="729450" y="3313025"/>
            <a:ext cx="7940700" cy="16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What it does:</a:t>
            </a:r>
            <a:b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Defines a function (</a:t>
            </a:r>
            <a:r>
              <a:rPr b="1" lang="en" sz="10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handleAllRequest</a:t>
            </a: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 that will handle all incoming requests.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Parameters: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</a:pPr>
            <a:r>
              <a:rPr b="1" lang="en" sz="10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requestObject</a:t>
            </a: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Contains information about the incoming request (e.g., URL, headers).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</a:pPr>
            <a:r>
              <a:rPr b="1" lang="en" sz="10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responseObject</a:t>
            </a: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Used to send data back to the client.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Why it’s important:</a:t>
            </a:r>
            <a:b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This function is the core of the server, as it processes requests and sends responses.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type="title"/>
          </p:nvPr>
        </p:nvSpPr>
        <p:spPr>
          <a:xfrm>
            <a:off x="729450" y="1318650"/>
            <a:ext cx="7688700" cy="6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 Explanation - Commented Code (Optional Debugging)</a:t>
            </a:r>
            <a:endParaRPr sz="1522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4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Commented Code (Optional Debugging)</a:t>
            </a:r>
            <a:endParaRPr sz="241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866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8"/>
          <p:cNvSpPr txBox="1"/>
          <p:nvPr/>
        </p:nvSpPr>
        <p:spPr>
          <a:xfrm>
            <a:off x="440375" y="3194850"/>
            <a:ext cx="849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28"/>
          <p:cNvSpPr/>
          <p:nvPr/>
        </p:nvSpPr>
        <p:spPr>
          <a:xfrm>
            <a:off x="842575" y="2327825"/>
            <a:ext cx="7575600" cy="9852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Vs code                                                                                                                                  </a:t>
            </a:r>
            <a:r>
              <a:rPr lang="en" sz="16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copy</a:t>
            </a:r>
            <a:r>
              <a:rPr lang="en" sz="14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                                                                                                                  </a:t>
            </a:r>
            <a:r>
              <a:rPr lang="en" sz="17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  </a:t>
            </a:r>
            <a:endParaRPr sz="17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B7B7B7"/>
                </a:solidFill>
              </a:rPr>
              <a:t>// console.log(requestObject);</a:t>
            </a:r>
            <a:endParaRPr sz="125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B7B7B7"/>
                </a:solidFill>
              </a:rPr>
              <a:t>// responseObject.write("Is this your response?\n");</a:t>
            </a:r>
            <a:endParaRPr sz="125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B7B7B7"/>
                </a:solidFill>
              </a:rPr>
              <a:t>// responseObject.write("Do you want to continue processing this request?");</a:t>
            </a:r>
            <a:endParaRPr sz="185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rgbClr val="81A1C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8"/>
          <p:cNvSpPr txBox="1"/>
          <p:nvPr/>
        </p:nvSpPr>
        <p:spPr>
          <a:xfrm>
            <a:off x="729450" y="3313025"/>
            <a:ext cx="7940700" cy="16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What it does:</a:t>
            </a:r>
            <a:b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These lines are commented out but can be used for: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Debugging: Logging the </a:t>
            </a:r>
            <a:r>
              <a:rPr lang="en" sz="12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requestObject</a:t>
            </a: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to see details of the request.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Sending additional responses: Writing more data to the client.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Why it’s important:</a:t>
            </a:r>
            <a:b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Demonstrates how to debug and add more functionality if needed.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type="title"/>
          </p:nvPr>
        </p:nvSpPr>
        <p:spPr>
          <a:xfrm>
            <a:off x="727650" y="1103200"/>
            <a:ext cx="7688700" cy="6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66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 Explanation - Extracting the URL</a:t>
            </a:r>
            <a:endParaRPr sz="1966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44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Extracting the UR</a:t>
            </a:r>
            <a:endParaRPr sz="1966">
              <a:solidFill>
                <a:schemeClr val="lt1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3">
              <a:solidFill>
                <a:srgbClr val="000000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866">
              <a:solidFill>
                <a:srgbClr val="404040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2"/>
              </a:highlight>
            </a:endParaRPr>
          </a:p>
        </p:txBody>
      </p:sp>
      <p:sp>
        <p:nvSpPr>
          <p:cNvPr id="213" name="Google Shape;213;p29"/>
          <p:cNvSpPr txBox="1"/>
          <p:nvPr/>
        </p:nvSpPr>
        <p:spPr>
          <a:xfrm>
            <a:off x="440375" y="3194850"/>
            <a:ext cx="849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4" name="Google Shape;214;p29"/>
          <p:cNvSpPr/>
          <p:nvPr/>
        </p:nvSpPr>
        <p:spPr>
          <a:xfrm>
            <a:off x="842575" y="2068175"/>
            <a:ext cx="7575600" cy="1245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Vs code                                                                                                                                  </a:t>
            </a:r>
            <a:r>
              <a:rPr lang="en" sz="16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copy</a:t>
            </a:r>
            <a:r>
              <a:rPr lang="en" sz="14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                                                                                                                  </a:t>
            </a:r>
            <a:r>
              <a:rPr lang="en" sz="17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  </a:t>
            </a:r>
            <a:endParaRPr sz="17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81A1C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rgbClr val="81A1C1"/>
                </a:solidFill>
              </a:rPr>
              <a:t>const</a:t>
            </a:r>
            <a:r>
              <a:rPr lang="en" sz="1750">
                <a:solidFill>
                  <a:srgbClr val="FFFFFF"/>
                </a:solidFill>
              </a:rPr>
              <a:t> url </a:t>
            </a:r>
            <a:r>
              <a:rPr lang="en" sz="1750">
                <a:solidFill>
                  <a:srgbClr val="81A1C1"/>
                </a:solidFill>
              </a:rPr>
              <a:t>=</a:t>
            </a:r>
            <a:r>
              <a:rPr lang="en" sz="1750">
                <a:solidFill>
                  <a:srgbClr val="FFFFFF"/>
                </a:solidFill>
              </a:rPr>
              <a:t> requestObject</a:t>
            </a:r>
            <a:r>
              <a:rPr lang="en" sz="1750">
                <a:solidFill>
                  <a:srgbClr val="81A1C1"/>
                </a:solidFill>
              </a:rPr>
              <a:t>.</a:t>
            </a:r>
            <a:r>
              <a:rPr lang="en" sz="1750">
                <a:solidFill>
                  <a:srgbClr val="FFFFFF"/>
                </a:solidFill>
              </a:rPr>
              <a:t>url</a:t>
            </a:r>
            <a:r>
              <a:rPr lang="en" sz="1750">
                <a:solidFill>
                  <a:srgbClr val="81A1C1"/>
                </a:solidFill>
              </a:rPr>
              <a:t>;</a:t>
            </a:r>
            <a:endParaRPr sz="1750">
              <a:solidFill>
                <a:srgbClr val="81A1C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rgbClr val="81A1C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729450" y="3313025"/>
            <a:ext cx="7940700" cy="12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b="1"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What it does:</a:t>
            </a:r>
            <a:br>
              <a:rPr b="1"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Extracts the URL path from the request (e.g., </a:t>
            </a:r>
            <a:r>
              <a:rPr lang="en" sz="13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3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/login</a:t>
            </a:r>
            <a: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3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/logout</a:t>
            </a:r>
            <a: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"/>
              <a:buChar char="●"/>
            </a:pPr>
            <a:r>
              <a:rPr b="1"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Why it’s important:</a:t>
            </a:r>
            <a:br>
              <a:rPr b="1"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URL determines what content to send back to the client.</a:t>
            </a:r>
            <a:endParaRPr b="1"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title"/>
          </p:nvPr>
        </p:nvSpPr>
        <p:spPr>
          <a:xfrm>
            <a:off x="842525" y="917800"/>
            <a:ext cx="7688700" cy="7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 Explanation - Handling Different URL Paths</a:t>
            </a:r>
            <a:endParaRPr sz="1966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44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Extracting the URL</a:t>
            </a:r>
            <a:endParaRPr sz="1966">
              <a:solidFill>
                <a:schemeClr val="lt1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3">
              <a:solidFill>
                <a:srgbClr val="000000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866">
              <a:solidFill>
                <a:srgbClr val="404040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2"/>
              </a:highlight>
            </a:endParaRPr>
          </a:p>
        </p:txBody>
      </p:sp>
      <p:sp>
        <p:nvSpPr>
          <p:cNvPr id="221" name="Google Shape;221;p30"/>
          <p:cNvSpPr txBox="1"/>
          <p:nvPr/>
        </p:nvSpPr>
        <p:spPr>
          <a:xfrm>
            <a:off x="440375" y="3194850"/>
            <a:ext cx="849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2" name="Google Shape;222;p30"/>
          <p:cNvSpPr/>
          <p:nvPr/>
        </p:nvSpPr>
        <p:spPr>
          <a:xfrm>
            <a:off x="842575" y="1938275"/>
            <a:ext cx="7940700" cy="24822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Vs code                                                                                                                                  </a:t>
            </a:r>
            <a:r>
              <a:rPr lang="en" sz="16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copy</a:t>
            </a:r>
            <a:r>
              <a:rPr lang="en" sz="14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                                                                                                                  </a:t>
            </a:r>
            <a:r>
              <a:rPr lang="en" sz="17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   </a:t>
            </a:r>
            <a:endParaRPr sz="17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81A1C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81A1C1"/>
                </a:solidFill>
              </a:rPr>
              <a:t>if</a:t>
            </a:r>
            <a:r>
              <a:rPr lang="en" sz="1150">
                <a:solidFill>
                  <a:srgbClr val="FFFFFF"/>
                </a:solidFill>
              </a:rPr>
              <a:t> </a:t>
            </a:r>
            <a:r>
              <a:rPr lang="en" sz="1150">
                <a:solidFill>
                  <a:srgbClr val="81A1C1"/>
                </a:solidFill>
              </a:rPr>
              <a:t>(</a:t>
            </a:r>
            <a:r>
              <a:rPr lang="en" sz="1150">
                <a:solidFill>
                  <a:srgbClr val="FFFFFF"/>
                </a:solidFill>
              </a:rPr>
              <a:t>url </a:t>
            </a:r>
            <a:r>
              <a:rPr lang="en" sz="1150">
                <a:solidFill>
                  <a:srgbClr val="81A1C1"/>
                </a:solidFill>
              </a:rPr>
              <a:t>===</a:t>
            </a:r>
            <a:r>
              <a:rPr lang="en" sz="1150">
                <a:solidFill>
                  <a:srgbClr val="FFFFFF"/>
                </a:solidFill>
              </a:rPr>
              <a:t> </a:t>
            </a:r>
            <a:r>
              <a:rPr lang="en" sz="1150">
                <a:solidFill>
                  <a:srgbClr val="A3BE8C"/>
                </a:solidFill>
              </a:rPr>
              <a:t>'/'</a:t>
            </a:r>
            <a:r>
              <a:rPr lang="en" sz="1150">
                <a:solidFill>
                  <a:srgbClr val="81A1C1"/>
                </a:solidFill>
              </a:rPr>
              <a:t>)</a:t>
            </a:r>
            <a:r>
              <a:rPr lang="en" sz="1150">
                <a:solidFill>
                  <a:srgbClr val="FFFFFF"/>
                </a:solidFill>
              </a:rPr>
              <a:t> </a:t>
            </a:r>
            <a:r>
              <a:rPr lang="en" sz="1150">
                <a:solidFill>
                  <a:srgbClr val="81A1C1"/>
                </a:solidFill>
              </a:rPr>
              <a:t>{</a:t>
            </a:r>
            <a:endParaRPr sz="11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FFFFFF"/>
                </a:solidFill>
              </a:rPr>
              <a:t>    responseObject</a:t>
            </a:r>
            <a:r>
              <a:rPr lang="en" sz="1150">
                <a:solidFill>
                  <a:srgbClr val="81A1C1"/>
                </a:solidFill>
              </a:rPr>
              <a:t>.</a:t>
            </a:r>
            <a:r>
              <a:rPr lang="en" sz="1150">
                <a:solidFill>
                  <a:srgbClr val="88C0D0"/>
                </a:solidFill>
              </a:rPr>
              <a:t>write</a:t>
            </a:r>
            <a:r>
              <a:rPr lang="en" sz="1150">
                <a:solidFill>
                  <a:srgbClr val="81A1C1"/>
                </a:solidFill>
              </a:rPr>
              <a:t>(</a:t>
            </a:r>
            <a:r>
              <a:rPr lang="en" sz="1150">
                <a:solidFill>
                  <a:srgbClr val="A3BE8C"/>
                </a:solidFill>
              </a:rPr>
              <a:t>'&lt;h1&gt;Welcome To Homepage&lt;/h1&gt;'</a:t>
            </a:r>
            <a:r>
              <a:rPr lang="en" sz="1150">
                <a:solidFill>
                  <a:srgbClr val="81A1C1"/>
                </a:solidFill>
              </a:rPr>
              <a:t>);</a:t>
            </a:r>
            <a:endParaRPr sz="11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81A1C1"/>
                </a:solidFill>
              </a:rPr>
              <a:t>}</a:t>
            </a:r>
            <a:r>
              <a:rPr lang="en" sz="1150">
                <a:solidFill>
                  <a:srgbClr val="FFFFFF"/>
                </a:solidFill>
              </a:rPr>
              <a:t> </a:t>
            </a:r>
            <a:r>
              <a:rPr lang="en" sz="1150">
                <a:solidFill>
                  <a:srgbClr val="81A1C1"/>
                </a:solidFill>
              </a:rPr>
              <a:t>else</a:t>
            </a:r>
            <a:r>
              <a:rPr lang="en" sz="1150">
                <a:solidFill>
                  <a:srgbClr val="FFFFFF"/>
                </a:solidFill>
              </a:rPr>
              <a:t> </a:t>
            </a:r>
            <a:r>
              <a:rPr lang="en" sz="1150">
                <a:solidFill>
                  <a:srgbClr val="81A1C1"/>
                </a:solidFill>
              </a:rPr>
              <a:t>if</a:t>
            </a:r>
            <a:r>
              <a:rPr lang="en" sz="1150">
                <a:solidFill>
                  <a:srgbClr val="FFFFFF"/>
                </a:solidFill>
              </a:rPr>
              <a:t> </a:t>
            </a:r>
            <a:r>
              <a:rPr lang="en" sz="1150">
                <a:solidFill>
                  <a:srgbClr val="81A1C1"/>
                </a:solidFill>
              </a:rPr>
              <a:t>(</a:t>
            </a:r>
            <a:r>
              <a:rPr lang="en" sz="1150">
                <a:solidFill>
                  <a:srgbClr val="FFFFFF"/>
                </a:solidFill>
              </a:rPr>
              <a:t>url </a:t>
            </a:r>
            <a:r>
              <a:rPr lang="en" sz="1150">
                <a:solidFill>
                  <a:srgbClr val="81A1C1"/>
                </a:solidFill>
              </a:rPr>
              <a:t>===</a:t>
            </a:r>
            <a:r>
              <a:rPr lang="en" sz="1150">
                <a:solidFill>
                  <a:srgbClr val="FFFFFF"/>
                </a:solidFill>
              </a:rPr>
              <a:t> </a:t>
            </a:r>
            <a:r>
              <a:rPr lang="en" sz="1150">
                <a:solidFill>
                  <a:srgbClr val="A3BE8C"/>
                </a:solidFill>
              </a:rPr>
              <a:t>'/login'</a:t>
            </a:r>
            <a:r>
              <a:rPr lang="en" sz="1150">
                <a:solidFill>
                  <a:srgbClr val="81A1C1"/>
                </a:solidFill>
              </a:rPr>
              <a:t>)</a:t>
            </a:r>
            <a:r>
              <a:rPr lang="en" sz="1150">
                <a:solidFill>
                  <a:srgbClr val="FFFFFF"/>
                </a:solidFill>
              </a:rPr>
              <a:t> </a:t>
            </a:r>
            <a:r>
              <a:rPr lang="en" sz="1150">
                <a:solidFill>
                  <a:srgbClr val="81A1C1"/>
                </a:solidFill>
              </a:rPr>
              <a:t>{</a:t>
            </a:r>
            <a:endParaRPr sz="11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FFFFFF"/>
                </a:solidFill>
              </a:rPr>
              <a:t>    responseObject</a:t>
            </a:r>
            <a:r>
              <a:rPr lang="en" sz="1150">
                <a:solidFill>
                  <a:srgbClr val="81A1C1"/>
                </a:solidFill>
              </a:rPr>
              <a:t>.</a:t>
            </a:r>
            <a:r>
              <a:rPr lang="en" sz="1150">
                <a:solidFill>
                  <a:srgbClr val="88C0D0"/>
                </a:solidFill>
              </a:rPr>
              <a:t>write</a:t>
            </a:r>
            <a:r>
              <a:rPr lang="en" sz="1150">
                <a:solidFill>
                  <a:srgbClr val="81A1C1"/>
                </a:solidFill>
              </a:rPr>
              <a:t>(</a:t>
            </a:r>
            <a:r>
              <a:rPr lang="en" sz="1150">
                <a:solidFill>
                  <a:srgbClr val="A3BE8C"/>
                </a:solidFill>
              </a:rPr>
              <a:t>'&lt;h1&gt;Welcome To Login Page&lt;/h1&gt;'</a:t>
            </a:r>
            <a:r>
              <a:rPr lang="en" sz="1150">
                <a:solidFill>
                  <a:srgbClr val="81A1C1"/>
                </a:solidFill>
              </a:rPr>
              <a:t>);</a:t>
            </a:r>
            <a:endParaRPr sz="11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81A1C1"/>
                </a:solidFill>
              </a:rPr>
              <a:t>}</a:t>
            </a:r>
            <a:r>
              <a:rPr lang="en" sz="1150">
                <a:solidFill>
                  <a:srgbClr val="FFFFFF"/>
                </a:solidFill>
              </a:rPr>
              <a:t> </a:t>
            </a:r>
            <a:r>
              <a:rPr lang="en" sz="1150">
                <a:solidFill>
                  <a:srgbClr val="81A1C1"/>
                </a:solidFill>
              </a:rPr>
              <a:t>else</a:t>
            </a:r>
            <a:r>
              <a:rPr lang="en" sz="1150">
                <a:solidFill>
                  <a:srgbClr val="FFFFFF"/>
                </a:solidFill>
              </a:rPr>
              <a:t> </a:t>
            </a:r>
            <a:r>
              <a:rPr lang="en" sz="1150">
                <a:solidFill>
                  <a:srgbClr val="81A1C1"/>
                </a:solidFill>
              </a:rPr>
              <a:t>if</a:t>
            </a:r>
            <a:r>
              <a:rPr lang="en" sz="1150">
                <a:solidFill>
                  <a:srgbClr val="FFFFFF"/>
                </a:solidFill>
              </a:rPr>
              <a:t> </a:t>
            </a:r>
            <a:r>
              <a:rPr lang="en" sz="1150">
                <a:solidFill>
                  <a:srgbClr val="81A1C1"/>
                </a:solidFill>
              </a:rPr>
              <a:t>(</a:t>
            </a:r>
            <a:r>
              <a:rPr lang="en" sz="1150">
                <a:solidFill>
                  <a:srgbClr val="FFFFFF"/>
                </a:solidFill>
              </a:rPr>
              <a:t>url </a:t>
            </a:r>
            <a:r>
              <a:rPr lang="en" sz="1150">
                <a:solidFill>
                  <a:srgbClr val="81A1C1"/>
                </a:solidFill>
              </a:rPr>
              <a:t>===</a:t>
            </a:r>
            <a:r>
              <a:rPr lang="en" sz="1150">
                <a:solidFill>
                  <a:srgbClr val="FFFFFF"/>
                </a:solidFill>
              </a:rPr>
              <a:t> </a:t>
            </a:r>
            <a:r>
              <a:rPr lang="en" sz="1150">
                <a:solidFill>
                  <a:srgbClr val="A3BE8C"/>
                </a:solidFill>
              </a:rPr>
              <a:t>'/logout'</a:t>
            </a:r>
            <a:r>
              <a:rPr lang="en" sz="1150">
                <a:solidFill>
                  <a:srgbClr val="81A1C1"/>
                </a:solidFill>
              </a:rPr>
              <a:t>)</a:t>
            </a:r>
            <a:r>
              <a:rPr lang="en" sz="1150">
                <a:solidFill>
                  <a:srgbClr val="FFFFFF"/>
                </a:solidFill>
              </a:rPr>
              <a:t> </a:t>
            </a:r>
            <a:r>
              <a:rPr lang="en" sz="1150">
                <a:solidFill>
                  <a:srgbClr val="81A1C1"/>
                </a:solidFill>
              </a:rPr>
              <a:t>{</a:t>
            </a:r>
            <a:endParaRPr sz="11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FFFFFF"/>
                </a:solidFill>
              </a:rPr>
              <a:t>    responseObject</a:t>
            </a:r>
            <a:r>
              <a:rPr lang="en" sz="1150">
                <a:solidFill>
                  <a:srgbClr val="81A1C1"/>
                </a:solidFill>
              </a:rPr>
              <a:t>.</a:t>
            </a:r>
            <a:r>
              <a:rPr lang="en" sz="1150">
                <a:solidFill>
                  <a:srgbClr val="88C0D0"/>
                </a:solidFill>
              </a:rPr>
              <a:t>write</a:t>
            </a:r>
            <a:r>
              <a:rPr lang="en" sz="1150">
                <a:solidFill>
                  <a:srgbClr val="81A1C1"/>
                </a:solidFill>
              </a:rPr>
              <a:t>(</a:t>
            </a:r>
            <a:r>
              <a:rPr lang="en" sz="1150">
                <a:solidFill>
                  <a:srgbClr val="A3BE8C"/>
                </a:solidFill>
              </a:rPr>
              <a:t>'&lt;h1&gt;Welcome To Logout Page&lt;/h1&gt;'</a:t>
            </a:r>
            <a:r>
              <a:rPr lang="en" sz="1150">
                <a:solidFill>
                  <a:srgbClr val="81A1C1"/>
                </a:solidFill>
              </a:rPr>
              <a:t>);</a:t>
            </a:r>
            <a:endParaRPr sz="11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81A1C1"/>
                </a:solidFill>
              </a:rPr>
              <a:t>}</a:t>
            </a:r>
            <a:r>
              <a:rPr lang="en" sz="1150">
                <a:solidFill>
                  <a:srgbClr val="FFFFFF"/>
                </a:solidFill>
              </a:rPr>
              <a:t> </a:t>
            </a:r>
            <a:r>
              <a:rPr lang="en" sz="1150">
                <a:solidFill>
                  <a:srgbClr val="81A1C1"/>
                </a:solidFill>
              </a:rPr>
              <a:t>else</a:t>
            </a:r>
            <a:r>
              <a:rPr lang="en" sz="1150">
                <a:solidFill>
                  <a:srgbClr val="FFFFFF"/>
                </a:solidFill>
              </a:rPr>
              <a:t> </a:t>
            </a:r>
            <a:r>
              <a:rPr lang="en" sz="1150">
                <a:solidFill>
                  <a:srgbClr val="81A1C1"/>
                </a:solidFill>
              </a:rPr>
              <a:t>{</a:t>
            </a:r>
            <a:endParaRPr sz="11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FFFFFF"/>
                </a:solidFill>
              </a:rPr>
              <a:t>    responseObject</a:t>
            </a:r>
            <a:r>
              <a:rPr lang="en" sz="1150">
                <a:solidFill>
                  <a:srgbClr val="81A1C1"/>
                </a:solidFill>
              </a:rPr>
              <a:t>.</a:t>
            </a:r>
            <a:r>
              <a:rPr lang="en" sz="1150">
                <a:solidFill>
                  <a:srgbClr val="88C0D0"/>
                </a:solidFill>
              </a:rPr>
              <a:t>write</a:t>
            </a:r>
            <a:r>
              <a:rPr lang="en" sz="1150">
                <a:solidFill>
                  <a:srgbClr val="81A1C1"/>
                </a:solidFill>
              </a:rPr>
              <a:t>(</a:t>
            </a:r>
            <a:r>
              <a:rPr lang="en" sz="1150">
                <a:solidFill>
                  <a:srgbClr val="A3BE8C"/>
                </a:solidFill>
              </a:rPr>
              <a:t>'&lt;h1&gt;Page Not Found&lt;/h1&gt;'</a:t>
            </a:r>
            <a:r>
              <a:rPr lang="en" sz="1150">
                <a:solidFill>
                  <a:srgbClr val="81A1C1"/>
                </a:solidFill>
              </a:rPr>
              <a:t>);</a:t>
            </a:r>
            <a:endParaRPr sz="11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81A1C1"/>
                </a:solidFill>
              </a:rPr>
              <a:t>}</a:t>
            </a:r>
            <a:endParaRPr sz="1950">
              <a:solidFill>
                <a:srgbClr val="81A1C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rgbClr val="81A1C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855450" y="1116325"/>
            <a:ext cx="7688700" cy="7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 Explanation - Handling Different URL Paths</a:t>
            </a:r>
            <a:endParaRPr sz="1966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44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Extracting the URL</a:t>
            </a:r>
            <a:endParaRPr sz="1966">
              <a:solidFill>
                <a:schemeClr val="lt1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3">
              <a:solidFill>
                <a:srgbClr val="000000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866">
              <a:solidFill>
                <a:srgbClr val="404040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422">
              <a:solidFill>
                <a:schemeClr val="lt1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9879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en" sz="14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Why it’s important:</a:t>
            </a:r>
            <a:br>
              <a:rPr lang="en" sz="14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lang="en" sz="14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This is how routing works in a server. Different URLs trigger different responses.</a:t>
            </a:r>
            <a:endParaRPr b="0" sz="1422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2"/>
              </a:highlight>
            </a:endParaRPr>
          </a:p>
        </p:txBody>
      </p:sp>
      <p:sp>
        <p:nvSpPr>
          <p:cNvPr id="228" name="Google Shape;228;p31"/>
          <p:cNvSpPr txBox="1"/>
          <p:nvPr/>
        </p:nvSpPr>
        <p:spPr>
          <a:xfrm>
            <a:off x="790650" y="1818025"/>
            <a:ext cx="7940700" cy="13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What it does:</a:t>
            </a:r>
            <a:b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Checks the URL and sends a different response based on the path: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</a:pPr>
            <a:r>
              <a:rPr lang="en" sz="12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Displays the homepage.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</a:pPr>
            <a:r>
              <a:rPr lang="en" sz="12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/login</a:t>
            </a: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Displays the login page.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</a:pPr>
            <a:r>
              <a:rPr lang="en" sz="12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/logout</a:t>
            </a: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Displays the logout page.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Roboto"/>
              <a:buChar char="○"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Any other path: Displays "Page Not Found"</a:t>
            </a:r>
            <a:r>
              <a:rPr lang="en">
                <a:solidFill>
                  <a:srgbClr val="4040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1" sz="17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 txBox="1"/>
          <p:nvPr>
            <p:ph type="title"/>
          </p:nvPr>
        </p:nvSpPr>
        <p:spPr>
          <a:xfrm>
            <a:off x="855450" y="1116325"/>
            <a:ext cx="7688700" cy="7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 Explanation - Ending the Response</a:t>
            </a:r>
            <a:endParaRPr sz="1522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Ending the Response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3">
              <a:solidFill>
                <a:srgbClr val="000000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866">
              <a:solidFill>
                <a:srgbClr val="404040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866">
              <a:solidFill>
                <a:srgbClr val="404040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893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en" sz="1755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What it does:</a:t>
            </a:r>
            <a:br>
              <a:rPr lang="en" sz="1755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lang="en" sz="1755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Signals that the response is complete.</a:t>
            </a:r>
            <a:endParaRPr b="0" sz="1755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893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en" sz="1755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Why it’s important:</a:t>
            </a:r>
            <a:br>
              <a:rPr lang="en" sz="1755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lang="en" sz="1755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Without this, the server won’t know when to stop sending data.</a:t>
            </a:r>
            <a:endParaRPr b="0" sz="1755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2"/>
              </a:highlight>
            </a:endParaRPr>
          </a:p>
        </p:txBody>
      </p:sp>
      <p:sp>
        <p:nvSpPr>
          <p:cNvPr id="234" name="Google Shape;234;p32"/>
          <p:cNvSpPr/>
          <p:nvPr/>
        </p:nvSpPr>
        <p:spPr>
          <a:xfrm>
            <a:off x="1603300" y="1974000"/>
            <a:ext cx="6940800" cy="1010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1540000" dist="190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Javascript                                                                                                                                                                                                 Copy</a:t>
            </a:r>
            <a:endParaRPr sz="9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FFFFFF"/>
                </a:solidFill>
              </a:rPr>
              <a:t>responseObject</a:t>
            </a:r>
            <a:r>
              <a:rPr lang="en" sz="1450">
                <a:solidFill>
                  <a:srgbClr val="81A1C1"/>
                </a:solidFill>
              </a:rPr>
              <a:t>.</a:t>
            </a:r>
            <a:r>
              <a:rPr lang="en" sz="1450">
                <a:solidFill>
                  <a:srgbClr val="88C0D0"/>
                </a:solidFill>
              </a:rPr>
              <a:t>end</a:t>
            </a:r>
            <a:r>
              <a:rPr lang="en" sz="1450">
                <a:solidFill>
                  <a:srgbClr val="81A1C1"/>
                </a:solidFill>
              </a:rPr>
              <a:t>();</a:t>
            </a:r>
            <a:endParaRPr sz="14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81A1C1"/>
                </a:solidFill>
              </a:rPr>
              <a:t>};</a:t>
            </a:r>
            <a:endParaRPr sz="1450">
              <a:solidFill>
                <a:srgbClr val="81A1C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 txBox="1"/>
          <p:nvPr>
            <p:ph type="title"/>
          </p:nvPr>
        </p:nvSpPr>
        <p:spPr>
          <a:xfrm>
            <a:off x="855450" y="1116325"/>
            <a:ext cx="7688700" cy="6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 Explanation - Creating the Server</a:t>
            </a:r>
            <a:endParaRPr sz="1744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5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Creating the Server</a:t>
            </a:r>
            <a:endParaRPr sz="16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3">
              <a:solidFill>
                <a:srgbClr val="000000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866">
              <a:solidFill>
                <a:srgbClr val="404040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866">
              <a:solidFill>
                <a:srgbClr val="404040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718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84375"/>
              <a:buFont typeface="Roboto"/>
              <a:buChar char="●"/>
            </a:pPr>
            <a:r>
              <a:rPr lang="en" sz="14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What it does:</a:t>
            </a:r>
            <a:br>
              <a:rPr lang="en" sz="14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lang="en" sz="14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Creates an HTTP server using the </a:t>
            </a:r>
            <a:r>
              <a:rPr b="0" lang="en" sz="1272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handleAllRequest</a:t>
            </a:r>
            <a:r>
              <a:rPr b="0" lang="en" sz="14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function to handle requests.</a:t>
            </a:r>
            <a:endParaRPr b="0" sz="1422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98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en" sz="14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Why it’s important:</a:t>
            </a:r>
            <a:br>
              <a:rPr lang="en" sz="14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lang="en" sz="14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This is the server setup step.</a:t>
            </a:r>
            <a:endParaRPr>
              <a:solidFill>
                <a:schemeClr val="lt1"/>
              </a:solidFill>
              <a:highlight>
                <a:schemeClr val="dk2"/>
              </a:highlight>
            </a:endParaRPr>
          </a:p>
        </p:txBody>
      </p:sp>
      <p:sp>
        <p:nvSpPr>
          <p:cNvPr id="240" name="Google Shape;240;p33"/>
          <p:cNvSpPr/>
          <p:nvPr/>
        </p:nvSpPr>
        <p:spPr>
          <a:xfrm>
            <a:off x="1603300" y="1974000"/>
            <a:ext cx="6940800" cy="1010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1540000" dist="190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Javascript                                                                                                                                                                                                 Copy</a:t>
            </a:r>
            <a:endParaRPr sz="9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81A1C1"/>
                </a:solidFill>
              </a:rPr>
              <a:t>const</a:t>
            </a:r>
            <a:r>
              <a:rPr lang="en" sz="1550">
                <a:solidFill>
                  <a:srgbClr val="FFFFFF"/>
                </a:solidFill>
              </a:rPr>
              <a:t> server </a:t>
            </a:r>
            <a:r>
              <a:rPr lang="en" sz="1550">
                <a:solidFill>
                  <a:srgbClr val="81A1C1"/>
                </a:solidFill>
              </a:rPr>
              <a:t>=</a:t>
            </a:r>
            <a:r>
              <a:rPr lang="en" sz="1550">
                <a:solidFill>
                  <a:srgbClr val="FFFFFF"/>
                </a:solidFill>
              </a:rPr>
              <a:t> http</a:t>
            </a:r>
            <a:r>
              <a:rPr lang="en" sz="1550">
                <a:solidFill>
                  <a:srgbClr val="81A1C1"/>
                </a:solidFill>
              </a:rPr>
              <a:t>.</a:t>
            </a:r>
            <a:r>
              <a:rPr lang="en" sz="1550">
                <a:solidFill>
                  <a:srgbClr val="88C0D0"/>
                </a:solidFill>
              </a:rPr>
              <a:t>createServer</a:t>
            </a:r>
            <a:r>
              <a:rPr lang="en" sz="1550">
                <a:solidFill>
                  <a:srgbClr val="81A1C1"/>
                </a:solidFill>
              </a:rPr>
              <a:t>(</a:t>
            </a:r>
            <a:r>
              <a:rPr lang="en" sz="1550">
                <a:solidFill>
                  <a:srgbClr val="FFFFFF"/>
                </a:solidFill>
              </a:rPr>
              <a:t>handleAllRequest</a:t>
            </a:r>
            <a:r>
              <a:rPr lang="en" sz="1550">
                <a:solidFill>
                  <a:srgbClr val="81A1C1"/>
                </a:solidFill>
              </a:rPr>
              <a:t>);</a:t>
            </a:r>
            <a:endParaRPr sz="1550">
              <a:solidFill>
                <a:srgbClr val="81A1C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 txBox="1"/>
          <p:nvPr>
            <p:ph type="title"/>
          </p:nvPr>
        </p:nvSpPr>
        <p:spPr>
          <a:xfrm>
            <a:off x="855450" y="1116325"/>
            <a:ext cx="76887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 Explanation - Starting the Server</a:t>
            </a:r>
            <a:endParaRPr sz="1522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lang="en" sz="14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Starting the Server</a:t>
            </a:r>
            <a:endParaRPr sz="16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3">
              <a:solidFill>
                <a:srgbClr val="000000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866">
              <a:solidFill>
                <a:srgbClr val="404040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866">
              <a:solidFill>
                <a:srgbClr val="404040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9879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en" sz="14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What it does:</a:t>
            </a:r>
            <a:br>
              <a:rPr lang="en" sz="14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lang="en" sz="14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Starts the server and makes it listen on:</a:t>
            </a:r>
            <a:endParaRPr b="0" sz="1422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718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4375"/>
              <a:buFont typeface="Roboto"/>
              <a:buAutoNum type="alphaLcPeriod"/>
            </a:pPr>
            <a:r>
              <a:rPr b="0" lang="en" sz="14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Port: </a:t>
            </a:r>
            <a:r>
              <a:rPr b="0" lang="en" sz="1272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3000</a:t>
            </a:r>
            <a:endParaRPr b="0" sz="1272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718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4375"/>
              <a:buFont typeface="Roboto"/>
              <a:buAutoNum type="alphaLcPeriod"/>
            </a:pPr>
            <a:r>
              <a:rPr b="0" lang="en" sz="14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IP Address: </a:t>
            </a:r>
            <a:r>
              <a:rPr b="0" lang="en" sz="1272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127.0.0.1</a:t>
            </a:r>
            <a:r>
              <a:rPr b="0" lang="en" sz="14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(localhost).</a:t>
            </a:r>
            <a:endParaRPr b="0" sz="1422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98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Char char="●"/>
            </a:pPr>
            <a:r>
              <a:rPr lang="en" sz="14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Why it’s important:</a:t>
            </a:r>
            <a:br>
              <a:rPr lang="en" sz="14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lang="en" sz="142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server won’t work unless it’s listening for requests.</a:t>
            </a:r>
            <a:endParaRPr b="0" sz="1422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422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4"/>
          <p:cNvSpPr/>
          <p:nvPr/>
        </p:nvSpPr>
        <p:spPr>
          <a:xfrm>
            <a:off x="1603300" y="1884150"/>
            <a:ext cx="6940800" cy="1100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1540000" dist="190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Javascript                                                                                                                                                                                                 Copy</a:t>
            </a:r>
            <a:endParaRPr sz="950">
              <a:solidFill>
                <a:srgbClr val="FFFFFF"/>
              </a:solidFill>
              <a:highlight>
                <a:srgbClr val="50505A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FFFF"/>
                </a:solidFill>
              </a:rPr>
              <a:t>server</a:t>
            </a:r>
            <a:r>
              <a:rPr lang="en" sz="950">
                <a:solidFill>
                  <a:srgbClr val="81A1C1"/>
                </a:solidFill>
              </a:rPr>
              <a:t>.</a:t>
            </a:r>
            <a:r>
              <a:rPr lang="en" sz="950">
                <a:solidFill>
                  <a:srgbClr val="88C0D0"/>
                </a:solidFill>
              </a:rPr>
              <a:t>listen</a:t>
            </a:r>
            <a:r>
              <a:rPr lang="en" sz="950">
                <a:solidFill>
                  <a:srgbClr val="81A1C1"/>
                </a:solidFill>
              </a:rPr>
              <a:t>(</a:t>
            </a:r>
            <a:r>
              <a:rPr lang="en" sz="950">
                <a:solidFill>
                  <a:srgbClr val="B48EAD"/>
                </a:solidFill>
              </a:rPr>
              <a:t>3000</a:t>
            </a:r>
            <a:r>
              <a:rPr lang="en" sz="950">
                <a:solidFill>
                  <a:srgbClr val="81A1C1"/>
                </a:solidFill>
              </a:rPr>
              <a:t>,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A3BE8C"/>
                </a:solidFill>
              </a:rPr>
              <a:t>'127.0.0.1'</a:t>
            </a:r>
            <a:r>
              <a:rPr lang="en" sz="950">
                <a:solidFill>
                  <a:srgbClr val="81A1C1"/>
                </a:solidFill>
              </a:rPr>
              <a:t>,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81A1C1"/>
                </a:solidFill>
              </a:rPr>
              <a:t>()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81A1C1"/>
                </a:solidFill>
              </a:rPr>
              <a:t>=&gt;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81A1C1"/>
                </a:solidFill>
              </a:rPr>
              <a:t>{</a:t>
            </a:r>
            <a:endParaRPr sz="9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FFFF"/>
                </a:solidFill>
              </a:rPr>
              <a:t>    console</a:t>
            </a:r>
            <a:r>
              <a:rPr lang="en" sz="950">
                <a:solidFill>
                  <a:srgbClr val="81A1C1"/>
                </a:solidFill>
              </a:rPr>
              <a:t>.</a:t>
            </a:r>
            <a:r>
              <a:rPr lang="en" sz="950">
                <a:solidFill>
                  <a:srgbClr val="88C0D0"/>
                </a:solidFill>
              </a:rPr>
              <a:t>log</a:t>
            </a:r>
            <a:r>
              <a:rPr lang="en" sz="950">
                <a:solidFill>
                  <a:srgbClr val="81A1C1"/>
                </a:solidFill>
              </a:rPr>
              <a:t>(</a:t>
            </a:r>
            <a:r>
              <a:rPr lang="en" sz="950">
                <a:solidFill>
                  <a:srgbClr val="A3BE8C"/>
                </a:solidFill>
              </a:rPr>
              <a:t>'Server is running on port 3000'</a:t>
            </a:r>
            <a:r>
              <a:rPr lang="en" sz="950">
                <a:solidFill>
                  <a:srgbClr val="81A1C1"/>
                </a:solidFill>
              </a:rPr>
              <a:t>);</a:t>
            </a:r>
            <a:endParaRPr sz="9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81A1C1"/>
                </a:solidFill>
              </a:rPr>
              <a:t>});</a:t>
            </a:r>
            <a:endParaRPr sz="1550">
              <a:solidFill>
                <a:srgbClr val="81A1C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/>
          <p:nvPr>
            <p:ph type="title"/>
          </p:nvPr>
        </p:nvSpPr>
        <p:spPr>
          <a:xfrm>
            <a:off x="855450" y="917500"/>
            <a:ext cx="7688700" cy="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5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Full Code</a:t>
            </a:r>
            <a:endParaRPr sz="16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3">
              <a:solidFill>
                <a:srgbClr val="000000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422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35"/>
          <p:cNvSpPr/>
          <p:nvPr/>
        </p:nvSpPr>
        <p:spPr>
          <a:xfrm>
            <a:off x="769200" y="1360900"/>
            <a:ext cx="7849800" cy="35553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21540000" dist="19050">
              <a:srgbClr val="000000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FFFF"/>
                </a:solidFill>
                <a:highlight>
                  <a:srgbClr val="50505A"/>
                </a:highlight>
                <a:latin typeface="Roboto"/>
                <a:ea typeface="Roboto"/>
                <a:cs typeface="Roboto"/>
                <a:sym typeface="Roboto"/>
              </a:rPr>
              <a:t>Javascript                                                                                                                                                                                                                               Copy</a:t>
            </a:r>
            <a:endParaRPr sz="9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81A1C1"/>
                </a:solidFill>
              </a:rPr>
              <a:t>const</a:t>
            </a:r>
            <a:r>
              <a:rPr lang="en" sz="950">
                <a:solidFill>
                  <a:srgbClr val="FFFFFF"/>
                </a:solidFill>
              </a:rPr>
              <a:t> http </a:t>
            </a:r>
            <a:r>
              <a:rPr lang="en" sz="950">
                <a:solidFill>
                  <a:srgbClr val="81A1C1"/>
                </a:solidFill>
              </a:rPr>
              <a:t>=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88C0D0"/>
                </a:solidFill>
              </a:rPr>
              <a:t>require</a:t>
            </a:r>
            <a:r>
              <a:rPr lang="en" sz="950">
                <a:solidFill>
                  <a:srgbClr val="81A1C1"/>
                </a:solidFill>
              </a:rPr>
              <a:t>(</a:t>
            </a:r>
            <a:r>
              <a:rPr lang="en" sz="950">
                <a:solidFill>
                  <a:srgbClr val="A3BE8C"/>
                </a:solidFill>
              </a:rPr>
              <a:t>'http'</a:t>
            </a:r>
            <a:r>
              <a:rPr lang="en" sz="950">
                <a:solidFill>
                  <a:srgbClr val="81A1C1"/>
                </a:solidFill>
              </a:rPr>
              <a:t>);</a:t>
            </a:r>
            <a:endParaRPr sz="9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81A1C1"/>
                </a:solidFill>
              </a:rPr>
              <a:t>const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88C0D0"/>
                </a:solidFill>
              </a:rPr>
              <a:t>handleAllRequest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81A1C1"/>
                </a:solidFill>
              </a:rPr>
              <a:t>=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81A1C1"/>
                </a:solidFill>
              </a:rPr>
              <a:t>(</a:t>
            </a:r>
            <a:r>
              <a:rPr lang="en" sz="950">
                <a:solidFill>
                  <a:srgbClr val="FFFFFF"/>
                </a:solidFill>
              </a:rPr>
              <a:t>requestObject</a:t>
            </a:r>
            <a:r>
              <a:rPr lang="en" sz="950">
                <a:solidFill>
                  <a:srgbClr val="81A1C1"/>
                </a:solidFill>
              </a:rPr>
              <a:t>,</a:t>
            </a:r>
            <a:r>
              <a:rPr lang="en" sz="950">
                <a:solidFill>
                  <a:srgbClr val="FFFFFF"/>
                </a:solidFill>
              </a:rPr>
              <a:t> responseObject</a:t>
            </a:r>
            <a:r>
              <a:rPr lang="en" sz="950">
                <a:solidFill>
                  <a:srgbClr val="81A1C1"/>
                </a:solidFill>
              </a:rPr>
              <a:t>)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81A1C1"/>
                </a:solidFill>
              </a:rPr>
              <a:t>=&gt;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81A1C1"/>
                </a:solidFill>
              </a:rPr>
              <a:t>{</a:t>
            </a:r>
            <a:endParaRPr sz="9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FFFF"/>
                </a:solidFill>
              </a:rPr>
              <a:t>    console</a:t>
            </a:r>
            <a:r>
              <a:rPr lang="en" sz="950">
                <a:solidFill>
                  <a:srgbClr val="81A1C1"/>
                </a:solidFill>
              </a:rPr>
              <a:t>.</a:t>
            </a:r>
            <a:r>
              <a:rPr lang="en" sz="950">
                <a:solidFill>
                  <a:srgbClr val="88C0D0"/>
                </a:solidFill>
              </a:rPr>
              <a:t>log</a:t>
            </a:r>
            <a:r>
              <a:rPr lang="en" sz="950">
                <a:solidFill>
                  <a:srgbClr val="81A1C1"/>
                </a:solidFill>
              </a:rPr>
              <a:t>(</a:t>
            </a:r>
            <a:r>
              <a:rPr lang="en" sz="950">
                <a:solidFill>
                  <a:srgbClr val="A3BE8C"/>
                </a:solidFill>
              </a:rPr>
              <a:t>'Hi, I am Handling a request'</a:t>
            </a:r>
            <a:r>
              <a:rPr lang="en" sz="950">
                <a:solidFill>
                  <a:srgbClr val="81A1C1"/>
                </a:solidFill>
              </a:rPr>
              <a:t>);</a:t>
            </a:r>
            <a:endParaRPr sz="9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FFFF"/>
                </a:solidFill>
              </a:rPr>
              <a:t>    </a:t>
            </a:r>
            <a:r>
              <a:rPr lang="en" sz="950">
                <a:solidFill>
                  <a:srgbClr val="81A1C1"/>
                </a:solidFill>
              </a:rPr>
              <a:t>const</a:t>
            </a:r>
            <a:r>
              <a:rPr lang="en" sz="950">
                <a:solidFill>
                  <a:srgbClr val="FFFFFF"/>
                </a:solidFill>
              </a:rPr>
              <a:t> url </a:t>
            </a:r>
            <a:r>
              <a:rPr lang="en" sz="950">
                <a:solidFill>
                  <a:srgbClr val="81A1C1"/>
                </a:solidFill>
              </a:rPr>
              <a:t>=</a:t>
            </a:r>
            <a:r>
              <a:rPr lang="en" sz="950">
                <a:solidFill>
                  <a:srgbClr val="FFFFFF"/>
                </a:solidFill>
              </a:rPr>
              <a:t> requestObject</a:t>
            </a:r>
            <a:r>
              <a:rPr lang="en" sz="950">
                <a:solidFill>
                  <a:srgbClr val="81A1C1"/>
                </a:solidFill>
              </a:rPr>
              <a:t>.</a:t>
            </a:r>
            <a:r>
              <a:rPr lang="en" sz="950">
                <a:solidFill>
                  <a:srgbClr val="FFFFFF"/>
                </a:solidFill>
              </a:rPr>
              <a:t>url</a:t>
            </a:r>
            <a:r>
              <a:rPr lang="en" sz="950">
                <a:solidFill>
                  <a:srgbClr val="81A1C1"/>
                </a:solidFill>
              </a:rPr>
              <a:t>;</a:t>
            </a:r>
            <a:endParaRPr sz="9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FFFF"/>
                </a:solidFill>
              </a:rPr>
              <a:t>    </a:t>
            </a:r>
            <a:r>
              <a:rPr lang="en" sz="950">
                <a:solidFill>
                  <a:srgbClr val="81A1C1"/>
                </a:solidFill>
              </a:rPr>
              <a:t>if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81A1C1"/>
                </a:solidFill>
              </a:rPr>
              <a:t>(</a:t>
            </a:r>
            <a:r>
              <a:rPr lang="en" sz="950">
                <a:solidFill>
                  <a:srgbClr val="FFFFFF"/>
                </a:solidFill>
              </a:rPr>
              <a:t>url </a:t>
            </a:r>
            <a:r>
              <a:rPr lang="en" sz="950">
                <a:solidFill>
                  <a:srgbClr val="81A1C1"/>
                </a:solidFill>
              </a:rPr>
              <a:t>===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A3BE8C"/>
                </a:solidFill>
              </a:rPr>
              <a:t>'/'</a:t>
            </a:r>
            <a:r>
              <a:rPr lang="en" sz="950">
                <a:solidFill>
                  <a:srgbClr val="81A1C1"/>
                </a:solidFill>
              </a:rPr>
              <a:t>)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81A1C1"/>
                </a:solidFill>
              </a:rPr>
              <a:t>{</a:t>
            </a:r>
            <a:endParaRPr sz="9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FFFF"/>
                </a:solidFill>
              </a:rPr>
              <a:t>        responseObject</a:t>
            </a:r>
            <a:r>
              <a:rPr lang="en" sz="950">
                <a:solidFill>
                  <a:srgbClr val="81A1C1"/>
                </a:solidFill>
              </a:rPr>
              <a:t>.</a:t>
            </a:r>
            <a:r>
              <a:rPr lang="en" sz="950">
                <a:solidFill>
                  <a:srgbClr val="88C0D0"/>
                </a:solidFill>
              </a:rPr>
              <a:t>write</a:t>
            </a:r>
            <a:r>
              <a:rPr lang="en" sz="950">
                <a:solidFill>
                  <a:srgbClr val="81A1C1"/>
                </a:solidFill>
              </a:rPr>
              <a:t>(</a:t>
            </a:r>
            <a:r>
              <a:rPr lang="en" sz="950">
                <a:solidFill>
                  <a:srgbClr val="A3BE8C"/>
                </a:solidFill>
              </a:rPr>
              <a:t>'&lt;h1&gt;Welcome To Homepage&lt;/h1&gt;'</a:t>
            </a:r>
            <a:r>
              <a:rPr lang="en" sz="950">
                <a:solidFill>
                  <a:srgbClr val="81A1C1"/>
                </a:solidFill>
              </a:rPr>
              <a:t>);</a:t>
            </a:r>
            <a:endParaRPr sz="9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FFFF"/>
                </a:solidFill>
              </a:rPr>
              <a:t>    </a:t>
            </a:r>
            <a:r>
              <a:rPr lang="en" sz="950">
                <a:solidFill>
                  <a:srgbClr val="81A1C1"/>
                </a:solidFill>
              </a:rPr>
              <a:t>}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81A1C1"/>
                </a:solidFill>
              </a:rPr>
              <a:t>else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81A1C1"/>
                </a:solidFill>
              </a:rPr>
              <a:t>if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81A1C1"/>
                </a:solidFill>
              </a:rPr>
              <a:t>(</a:t>
            </a:r>
            <a:r>
              <a:rPr lang="en" sz="950">
                <a:solidFill>
                  <a:srgbClr val="FFFFFF"/>
                </a:solidFill>
              </a:rPr>
              <a:t>url </a:t>
            </a:r>
            <a:r>
              <a:rPr lang="en" sz="950">
                <a:solidFill>
                  <a:srgbClr val="81A1C1"/>
                </a:solidFill>
              </a:rPr>
              <a:t>===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A3BE8C"/>
                </a:solidFill>
              </a:rPr>
              <a:t>'/login'</a:t>
            </a:r>
            <a:r>
              <a:rPr lang="en" sz="950">
                <a:solidFill>
                  <a:srgbClr val="81A1C1"/>
                </a:solidFill>
              </a:rPr>
              <a:t>)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81A1C1"/>
                </a:solidFill>
              </a:rPr>
              <a:t>{</a:t>
            </a:r>
            <a:endParaRPr sz="9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FFFF"/>
                </a:solidFill>
              </a:rPr>
              <a:t>        responseObject</a:t>
            </a:r>
            <a:r>
              <a:rPr lang="en" sz="950">
                <a:solidFill>
                  <a:srgbClr val="81A1C1"/>
                </a:solidFill>
              </a:rPr>
              <a:t>.</a:t>
            </a:r>
            <a:r>
              <a:rPr lang="en" sz="950">
                <a:solidFill>
                  <a:srgbClr val="88C0D0"/>
                </a:solidFill>
              </a:rPr>
              <a:t>write</a:t>
            </a:r>
            <a:r>
              <a:rPr lang="en" sz="950">
                <a:solidFill>
                  <a:srgbClr val="81A1C1"/>
                </a:solidFill>
              </a:rPr>
              <a:t>(</a:t>
            </a:r>
            <a:r>
              <a:rPr lang="en" sz="950">
                <a:solidFill>
                  <a:srgbClr val="A3BE8C"/>
                </a:solidFill>
              </a:rPr>
              <a:t>'&lt;h1&gt;Welcome To Login Page&lt;/h1&gt;'</a:t>
            </a:r>
            <a:r>
              <a:rPr lang="en" sz="950">
                <a:solidFill>
                  <a:srgbClr val="81A1C1"/>
                </a:solidFill>
              </a:rPr>
              <a:t>);</a:t>
            </a:r>
            <a:endParaRPr sz="9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FFFF"/>
                </a:solidFill>
              </a:rPr>
              <a:t>    </a:t>
            </a:r>
            <a:r>
              <a:rPr lang="en" sz="950">
                <a:solidFill>
                  <a:srgbClr val="81A1C1"/>
                </a:solidFill>
              </a:rPr>
              <a:t>}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81A1C1"/>
                </a:solidFill>
              </a:rPr>
              <a:t>else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81A1C1"/>
                </a:solidFill>
              </a:rPr>
              <a:t>if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81A1C1"/>
                </a:solidFill>
              </a:rPr>
              <a:t>(</a:t>
            </a:r>
            <a:r>
              <a:rPr lang="en" sz="950">
                <a:solidFill>
                  <a:srgbClr val="FFFFFF"/>
                </a:solidFill>
              </a:rPr>
              <a:t>url </a:t>
            </a:r>
            <a:r>
              <a:rPr lang="en" sz="950">
                <a:solidFill>
                  <a:srgbClr val="81A1C1"/>
                </a:solidFill>
              </a:rPr>
              <a:t>===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A3BE8C"/>
                </a:solidFill>
              </a:rPr>
              <a:t>'/logout'</a:t>
            </a:r>
            <a:r>
              <a:rPr lang="en" sz="950">
                <a:solidFill>
                  <a:srgbClr val="81A1C1"/>
                </a:solidFill>
              </a:rPr>
              <a:t>)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81A1C1"/>
                </a:solidFill>
              </a:rPr>
              <a:t>{</a:t>
            </a:r>
            <a:endParaRPr sz="9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FFFF"/>
                </a:solidFill>
              </a:rPr>
              <a:t>        responseObject</a:t>
            </a:r>
            <a:r>
              <a:rPr lang="en" sz="950">
                <a:solidFill>
                  <a:srgbClr val="81A1C1"/>
                </a:solidFill>
              </a:rPr>
              <a:t>.</a:t>
            </a:r>
            <a:r>
              <a:rPr lang="en" sz="950">
                <a:solidFill>
                  <a:srgbClr val="88C0D0"/>
                </a:solidFill>
              </a:rPr>
              <a:t>write</a:t>
            </a:r>
            <a:r>
              <a:rPr lang="en" sz="950">
                <a:solidFill>
                  <a:srgbClr val="81A1C1"/>
                </a:solidFill>
              </a:rPr>
              <a:t>(</a:t>
            </a:r>
            <a:r>
              <a:rPr lang="en" sz="950">
                <a:solidFill>
                  <a:srgbClr val="A3BE8C"/>
                </a:solidFill>
              </a:rPr>
              <a:t>'&lt;h1&gt;Welcome To Logout Page&lt;/h1&gt;'</a:t>
            </a:r>
            <a:r>
              <a:rPr lang="en" sz="950">
                <a:solidFill>
                  <a:srgbClr val="81A1C1"/>
                </a:solidFill>
              </a:rPr>
              <a:t>);</a:t>
            </a:r>
            <a:endParaRPr sz="9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FFFF"/>
                </a:solidFill>
              </a:rPr>
              <a:t>    </a:t>
            </a:r>
            <a:r>
              <a:rPr lang="en" sz="950">
                <a:solidFill>
                  <a:srgbClr val="81A1C1"/>
                </a:solidFill>
              </a:rPr>
              <a:t>}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81A1C1"/>
                </a:solidFill>
              </a:rPr>
              <a:t>else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81A1C1"/>
                </a:solidFill>
              </a:rPr>
              <a:t>{</a:t>
            </a:r>
            <a:endParaRPr sz="9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FFFF"/>
                </a:solidFill>
              </a:rPr>
              <a:t>        responseObject</a:t>
            </a:r>
            <a:r>
              <a:rPr lang="en" sz="950">
                <a:solidFill>
                  <a:srgbClr val="81A1C1"/>
                </a:solidFill>
              </a:rPr>
              <a:t>.</a:t>
            </a:r>
            <a:r>
              <a:rPr lang="en" sz="950">
                <a:solidFill>
                  <a:srgbClr val="88C0D0"/>
                </a:solidFill>
              </a:rPr>
              <a:t>write</a:t>
            </a:r>
            <a:r>
              <a:rPr lang="en" sz="950">
                <a:solidFill>
                  <a:srgbClr val="81A1C1"/>
                </a:solidFill>
              </a:rPr>
              <a:t>(</a:t>
            </a:r>
            <a:r>
              <a:rPr lang="en" sz="950">
                <a:solidFill>
                  <a:srgbClr val="A3BE8C"/>
                </a:solidFill>
              </a:rPr>
              <a:t>'&lt;h1&gt;Page Not Found&lt;/h1&gt;'</a:t>
            </a:r>
            <a:r>
              <a:rPr lang="en" sz="950">
                <a:solidFill>
                  <a:srgbClr val="81A1C1"/>
                </a:solidFill>
              </a:rPr>
              <a:t>);</a:t>
            </a:r>
            <a:endParaRPr sz="9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FFFF"/>
                </a:solidFill>
              </a:rPr>
              <a:t>    </a:t>
            </a:r>
            <a:r>
              <a:rPr lang="en" sz="950">
                <a:solidFill>
                  <a:srgbClr val="81A1C1"/>
                </a:solidFill>
              </a:rPr>
              <a:t>}</a:t>
            </a:r>
            <a:endParaRPr sz="9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FFFF"/>
                </a:solidFill>
              </a:rPr>
              <a:t>    responseObject</a:t>
            </a:r>
            <a:r>
              <a:rPr lang="en" sz="950">
                <a:solidFill>
                  <a:srgbClr val="81A1C1"/>
                </a:solidFill>
              </a:rPr>
              <a:t>.</a:t>
            </a:r>
            <a:r>
              <a:rPr lang="en" sz="950">
                <a:solidFill>
                  <a:srgbClr val="88C0D0"/>
                </a:solidFill>
              </a:rPr>
              <a:t>end</a:t>
            </a:r>
            <a:r>
              <a:rPr lang="en" sz="950">
                <a:solidFill>
                  <a:srgbClr val="81A1C1"/>
                </a:solidFill>
              </a:rPr>
              <a:t>();</a:t>
            </a:r>
            <a:endParaRPr sz="9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81A1C1"/>
                </a:solidFill>
              </a:rPr>
              <a:t>};</a:t>
            </a:r>
            <a:endParaRPr sz="9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81A1C1"/>
                </a:solidFill>
              </a:rPr>
              <a:t>const</a:t>
            </a:r>
            <a:r>
              <a:rPr lang="en" sz="950">
                <a:solidFill>
                  <a:srgbClr val="FFFFFF"/>
                </a:solidFill>
              </a:rPr>
              <a:t> server </a:t>
            </a:r>
            <a:r>
              <a:rPr lang="en" sz="950">
                <a:solidFill>
                  <a:srgbClr val="81A1C1"/>
                </a:solidFill>
              </a:rPr>
              <a:t>=</a:t>
            </a:r>
            <a:r>
              <a:rPr lang="en" sz="950">
                <a:solidFill>
                  <a:srgbClr val="FFFFFF"/>
                </a:solidFill>
              </a:rPr>
              <a:t> http</a:t>
            </a:r>
            <a:r>
              <a:rPr lang="en" sz="950">
                <a:solidFill>
                  <a:srgbClr val="81A1C1"/>
                </a:solidFill>
              </a:rPr>
              <a:t>.</a:t>
            </a:r>
            <a:r>
              <a:rPr lang="en" sz="950">
                <a:solidFill>
                  <a:srgbClr val="88C0D0"/>
                </a:solidFill>
              </a:rPr>
              <a:t>createServer</a:t>
            </a:r>
            <a:r>
              <a:rPr lang="en" sz="950">
                <a:solidFill>
                  <a:srgbClr val="81A1C1"/>
                </a:solidFill>
              </a:rPr>
              <a:t>(</a:t>
            </a:r>
            <a:r>
              <a:rPr lang="en" sz="950">
                <a:solidFill>
                  <a:srgbClr val="FFFFFF"/>
                </a:solidFill>
              </a:rPr>
              <a:t>handleAllRequest</a:t>
            </a:r>
            <a:r>
              <a:rPr lang="en" sz="950">
                <a:solidFill>
                  <a:srgbClr val="81A1C1"/>
                </a:solidFill>
              </a:rPr>
              <a:t>);</a:t>
            </a:r>
            <a:endParaRPr sz="9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FFFF"/>
                </a:solidFill>
              </a:rPr>
              <a:t>server</a:t>
            </a:r>
            <a:r>
              <a:rPr lang="en" sz="950">
                <a:solidFill>
                  <a:srgbClr val="81A1C1"/>
                </a:solidFill>
              </a:rPr>
              <a:t>.</a:t>
            </a:r>
            <a:r>
              <a:rPr lang="en" sz="950">
                <a:solidFill>
                  <a:srgbClr val="88C0D0"/>
                </a:solidFill>
              </a:rPr>
              <a:t>listen</a:t>
            </a:r>
            <a:r>
              <a:rPr lang="en" sz="950">
                <a:solidFill>
                  <a:srgbClr val="81A1C1"/>
                </a:solidFill>
              </a:rPr>
              <a:t>(</a:t>
            </a:r>
            <a:r>
              <a:rPr lang="en" sz="950">
                <a:solidFill>
                  <a:srgbClr val="B48EAD"/>
                </a:solidFill>
              </a:rPr>
              <a:t>3000</a:t>
            </a:r>
            <a:r>
              <a:rPr lang="en" sz="950">
                <a:solidFill>
                  <a:srgbClr val="81A1C1"/>
                </a:solidFill>
              </a:rPr>
              <a:t>,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A3BE8C"/>
                </a:solidFill>
              </a:rPr>
              <a:t>'127.0.0.1'</a:t>
            </a:r>
            <a:r>
              <a:rPr lang="en" sz="950">
                <a:solidFill>
                  <a:srgbClr val="81A1C1"/>
                </a:solidFill>
              </a:rPr>
              <a:t>,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81A1C1"/>
                </a:solidFill>
              </a:rPr>
              <a:t>()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81A1C1"/>
                </a:solidFill>
              </a:rPr>
              <a:t>=&gt;</a:t>
            </a:r>
            <a:r>
              <a:rPr lang="en" sz="950">
                <a:solidFill>
                  <a:srgbClr val="FFFFFF"/>
                </a:solidFill>
              </a:rPr>
              <a:t> </a:t>
            </a:r>
            <a:r>
              <a:rPr lang="en" sz="950">
                <a:solidFill>
                  <a:srgbClr val="81A1C1"/>
                </a:solidFill>
              </a:rPr>
              <a:t>{</a:t>
            </a:r>
            <a:endParaRPr sz="9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FFFFFF"/>
                </a:solidFill>
              </a:rPr>
              <a:t>    console</a:t>
            </a:r>
            <a:r>
              <a:rPr lang="en" sz="950">
                <a:solidFill>
                  <a:srgbClr val="81A1C1"/>
                </a:solidFill>
              </a:rPr>
              <a:t>.</a:t>
            </a:r>
            <a:r>
              <a:rPr lang="en" sz="950">
                <a:solidFill>
                  <a:srgbClr val="88C0D0"/>
                </a:solidFill>
              </a:rPr>
              <a:t>log</a:t>
            </a:r>
            <a:r>
              <a:rPr lang="en" sz="950">
                <a:solidFill>
                  <a:srgbClr val="81A1C1"/>
                </a:solidFill>
              </a:rPr>
              <a:t>(</a:t>
            </a:r>
            <a:r>
              <a:rPr lang="en" sz="950">
                <a:solidFill>
                  <a:srgbClr val="A3BE8C"/>
                </a:solidFill>
              </a:rPr>
              <a:t>'Server is running on port 3000'</a:t>
            </a:r>
            <a:r>
              <a:rPr lang="en" sz="950">
                <a:solidFill>
                  <a:srgbClr val="81A1C1"/>
                </a:solidFill>
              </a:rPr>
              <a:t>);</a:t>
            </a:r>
            <a:endParaRPr sz="9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81A1C1"/>
                </a:solidFill>
              </a:rPr>
              <a:t>});</a:t>
            </a:r>
            <a:endParaRPr sz="950">
              <a:solidFill>
                <a:srgbClr val="81A1C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6"/>
          <p:cNvSpPr txBox="1"/>
          <p:nvPr>
            <p:ph type="title"/>
          </p:nvPr>
        </p:nvSpPr>
        <p:spPr>
          <a:xfrm>
            <a:off x="855450" y="917500"/>
            <a:ext cx="7688700" cy="3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44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Key Points </a:t>
            </a:r>
            <a:endParaRPr sz="1744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Content:</a:t>
            </a:r>
            <a:endParaRPr sz="15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71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78261"/>
              <a:buFont typeface="Roboto"/>
              <a:buAutoNum type="arabicPeriod"/>
            </a:pPr>
            <a:r>
              <a:rPr lang="en" sz="15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HTTP Module:</a:t>
            </a:r>
            <a:br>
              <a:rPr lang="en" sz="15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lang="en" sz="15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Explain how Node.js uses the </a:t>
            </a:r>
            <a:r>
              <a:rPr b="0" lang="en" sz="138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http</a:t>
            </a:r>
            <a:r>
              <a:rPr b="0" lang="en" sz="15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module to create servers.</a:t>
            </a:r>
            <a:endParaRPr b="0" sz="15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622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AutoNum type="arabicPeriod"/>
            </a:pPr>
            <a:r>
              <a:rPr lang="en" sz="15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Request and Response Objects:</a:t>
            </a:r>
            <a:endParaRPr sz="15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718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6747"/>
              <a:buFont typeface="Roboto"/>
              <a:buChar char="○"/>
            </a:pPr>
            <a:r>
              <a:rPr b="0" lang="en" sz="138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requestObject</a:t>
            </a:r>
            <a:r>
              <a:rPr b="0" lang="en" sz="15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Contains details about the incoming request.</a:t>
            </a:r>
            <a:endParaRPr b="0" sz="15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718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6747"/>
              <a:buFont typeface="Roboto"/>
              <a:buChar char="○"/>
            </a:pPr>
            <a:r>
              <a:rPr b="0" lang="en" sz="138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responseObject</a:t>
            </a:r>
            <a:r>
              <a:rPr b="0" lang="en" sz="15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Used to send data back to the client.</a:t>
            </a:r>
            <a:endParaRPr b="0" sz="15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622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AutoNum type="arabicPeriod"/>
            </a:pPr>
            <a:r>
              <a:rPr lang="en" sz="15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URL Routing:</a:t>
            </a:r>
            <a:br>
              <a:rPr lang="en" sz="15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lang="en" sz="15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How to handle different URL paths and send appropriate responses.</a:t>
            </a:r>
            <a:endParaRPr b="0" sz="15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622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AutoNum type="arabicPeriod"/>
            </a:pPr>
            <a:r>
              <a:rPr lang="en" sz="15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Response Methods:</a:t>
            </a:r>
            <a:endParaRPr sz="15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718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6747"/>
              <a:buFont typeface="Roboto"/>
              <a:buChar char="○"/>
            </a:pPr>
            <a:r>
              <a:rPr b="0" lang="en" sz="138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response.write()</a:t>
            </a:r>
            <a:r>
              <a:rPr b="0" lang="en" sz="15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Sends data to the client.</a:t>
            </a:r>
            <a:endParaRPr b="0" sz="15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718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6747"/>
              <a:buFont typeface="Roboto"/>
              <a:buChar char="○"/>
            </a:pPr>
            <a:r>
              <a:rPr b="0" lang="en" sz="138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response.end()</a:t>
            </a:r>
            <a:r>
              <a:rPr b="0" lang="en" sz="15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Signals the end of the response.</a:t>
            </a:r>
            <a:endParaRPr b="0" sz="15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622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Roboto"/>
              <a:buAutoNum type="arabicPeriod"/>
            </a:pPr>
            <a:r>
              <a:rPr lang="en" sz="15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Server Setup:</a:t>
            </a:r>
            <a:endParaRPr sz="15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718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6747"/>
              <a:buFont typeface="Roboto"/>
              <a:buChar char="○"/>
            </a:pPr>
            <a:r>
              <a:rPr b="0" lang="en" sz="138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http.createServer()</a:t>
            </a:r>
            <a:r>
              <a:rPr b="0" lang="en" sz="15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Creates the server.</a:t>
            </a:r>
            <a:endParaRPr b="0" sz="15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718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86747"/>
              <a:buFont typeface="Roboto"/>
              <a:buChar char="○"/>
            </a:pPr>
            <a:r>
              <a:rPr b="0" lang="en" sz="138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server.listen()</a:t>
            </a:r>
            <a:r>
              <a:rPr b="0" lang="en" sz="15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: Starts the server and listens for requests.</a:t>
            </a:r>
            <a:endParaRPr b="0" sz="15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8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3">
              <a:solidFill>
                <a:srgbClr val="000000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422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7"/>
          <p:cNvSpPr txBox="1"/>
          <p:nvPr>
            <p:ph type="title"/>
          </p:nvPr>
        </p:nvSpPr>
        <p:spPr>
          <a:xfrm>
            <a:off x="855450" y="917500"/>
            <a:ext cx="7688700" cy="3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44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Expected Output</a:t>
            </a:r>
            <a:endParaRPr sz="1744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8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3">
              <a:solidFill>
                <a:srgbClr val="000000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422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37"/>
          <p:cNvSpPr txBox="1"/>
          <p:nvPr/>
        </p:nvSpPr>
        <p:spPr>
          <a:xfrm>
            <a:off x="-519775" y="1956350"/>
            <a:ext cx="9829800" cy="23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"/>
              <a:buChar char="○"/>
            </a:pPr>
            <a:r>
              <a:rPr lang="en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When the server is running: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AutoNum type="romanLcPeriod"/>
            </a:pPr>
            <a:r>
              <a:rPr lang="en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Access </a:t>
            </a:r>
            <a:r>
              <a:rPr lang="en" sz="17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http://127.0.0.1:3000/</a:t>
            </a:r>
            <a:r>
              <a:rPr lang="en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→ "Welcome To  Homepage".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AutoNum type="romanLcPeriod"/>
            </a:pPr>
            <a:r>
              <a:rPr lang="en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Access </a:t>
            </a:r>
            <a:r>
              <a:rPr lang="en" sz="17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http://127.0.0.1:3000/login</a:t>
            </a:r>
            <a:r>
              <a:rPr lang="en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→ "Welcome To Login Page".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AutoNum type="romanLcPeriod"/>
            </a:pPr>
            <a:r>
              <a:rPr lang="en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Access </a:t>
            </a:r>
            <a:r>
              <a:rPr lang="en" sz="17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http://127.0.0.1:3000/logout</a:t>
            </a:r>
            <a:r>
              <a:rPr lang="en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→ "Welcome To Logout Page".</a:t>
            </a:r>
            <a:endParaRPr sz="1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"/>
              <a:buAutoNum type="romanLcPeriod"/>
            </a:pPr>
            <a:r>
              <a:rPr lang="en" sz="1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Access any other path → "Page Not Found".</a:t>
            </a:r>
            <a:endParaRPr b="1" sz="223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8"/>
          <p:cNvSpPr txBox="1"/>
          <p:nvPr>
            <p:ph type="title"/>
          </p:nvPr>
        </p:nvSpPr>
        <p:spPr>
          <a:xfrm>
            <a:off x="855450" y="873500"/>
            <a:ext cx="7688700" cy="6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44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Activity for Students</a:t>
            </a:r>
            <a:endParaRPr sz="1744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744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8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3">
              <a:solidFill>
                <a:srgbClr val="000000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422">
              <a:solidFill>
                <a:srgbClr val="40404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38"/>
          <p:cNvSpPr txBox="1"/>
          <p:nvPr/>
        </p:nvSpPr>
        <p:spPr>
          <a:xfrm>
            <a:off x="563075" y="1956350"/>
            <a:ext cx="7309200" cy="16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Content:</a:t>
            </a:r>
            <a:endParaRPr b="1"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AutoNum type="arabicPeriod"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Run the code and test the server in a browser.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AutoNum type="arabicPeriod"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Add a new route (e.g., </a:t>
            </a:r>
            <a:r>
              <a:rPr lang="en" sz="15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/about</a:t>
            </a: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) and send a custom response.</a:t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AutoNum type="arabicPeriod"/>
            </a:pP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Uncomment the </a:t>
            </a:r>
            <a:r>
              <a:rPr lang="en" sz="155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console.log(requestObject)</a:t>
            </a:r>
            <a:r>
              <a:rPr lang="en" sz="1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line and observe the output in the terminal.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