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41108D-283E-40B4-BB02-0E7AB1BB8BC9}">
  <a:tblStyle styleId="{AF41108D-283E-40B4-BB02-0E7AB1BB8B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6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9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0d98f4d7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0d98f4d7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0d98f4d7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0d98f4d7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0d98f4d7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0d98f4d7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0d98f4d7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0d98f4d7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0d98f4d7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0d98f4d7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0d98f4d7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0d98f4d7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0d98f4d7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0d98f4d7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0d98f4d7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0d98f4d7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0d98f4d7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0d98f4d7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0d98f4d7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0d98f4d7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0d98f4d7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0d98f4d7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0d98f4d7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0d98f4d7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0d98f4d72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0d98f4d72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0d98f4d7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0d98f4d7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0d98f4d72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0d98f4d72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0d98f4d7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0d98f4d7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0d98f4d7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0d98f4d7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1141d1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1141d1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38761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056300"/>
          </a:xfrm>
          <a:prstGeom prst="rect">
            <a:avLst/>
          </a:prstGeom>
          <a:gradFill>
            <a:gsLst>
              <a:gs pos="0">
                <a:srgbClr val="FFC102"/>
              </a:gs>
              <a:gs pos="100000">
                <a:srgbClr val="795C04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lt1"/>
                </a:solidFill>
              </a:rPr>
              <a:t>NODE JS WEEK TWO</a:t>
            </a:r>
            <a:endParaRPr sz="57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2711300"/>
            <a:ext cx="76881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-346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Char char="●"/>
            </a:pPr>
            <a:r>
              <a:rPr b="1" lang="en" sz="3362">
                <a:solidFill>
                  <a:schemeClr val="lt1"/>
                </a:solidFill>
                <a:highlight>
                  <a:srgbClr val="38761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Building an Express Server with Multiple Examples</a:t>
            </a:r>
            <a:endParaRPr b="1" sz="3362">
              <a:solidFill>
                <a:schemeClr val="lt1"/>
              </a:solidFill>
              <a:highlight>
                <a:srgbClr val="38761D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6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Char char="●"/>
            </a:pPr>
            <a:r>
              <a:rPr b="1" lang="en" sz="3362">
                <a:solidFill>
                  <a:schemeClr val="lt1"/>
                </a:solidFill>
                <a:highlight>
                  <a:srgbClr val="38761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From HTTP to Express – Simplifying Web Servers in Node.js</a:t>
            </a:r>
            <a:endParaRPr b="1" sz="3362">
              <a:solidFill>
                <a:schemeClr val="lt1"/>
              </a:solidFill>
              <a:highlight>
                <a:srgbClr val="38761D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highlight>
                <a:srgbClr val="38761D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2018650" y="857300"/>
            <a:ext cx="1397100" cy="538200"/>
          </a:xfrm>
          <a:prstGeom prst="rect">
            <a:avLst/>
          </a:prstGeom>
          <a:gradFill>
            <a:gsLst>
              <a:gs pos="0">
                <a:srgbClr val="FFC102"/>
              </a:gs>
              <a:gs pos="100000">
                <a:srgbClr val="795C04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102">
                <a:solidFill>
                  <a:schemeClr val="lt1"/>
                </a:solidFill>
              </a:rPr>
              <a:t>Overview</a:t>
            </a:r>
            <a:endParaRPr sz="2102">
              <a:solidFill>
                <a:schemeClr val="lt1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824025" y="1634750"/>
            <a:ext cx="7190100" cy="3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week: Dive into Express.js, a minimalist web framework for Node.js.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features of Express: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Simplified routing.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Middleware support.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structure for APIs and web servers.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Four examples to explore: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HTTP server (without Express).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 server with server.use().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 server with server.get().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 server with multiple HTTP methods (GET, POST, PUT, DELETE).</a:t>
            </a:r>
            <a:endParaRPr b="1" sz="2300">
              <a:solidFill>
                <a:schemeClr val="lt1"/>
              </a:solidFill>
              <a:highlight>
                <a:srgbClr val="38761D"/>
              </a:highlight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24025" y="1329050"/>
            <a:ext cx="67116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Recap of Week 1: Built a basic HTTP server using Node.js.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1885725" y="883850"/>
            <a:ext cx="3842700" cy="433800"/>
          </a:xfrm>
          <a:prstGeom prst="rect">
            <a:avLst/>
          </a:prstGeom>
          <a:gradFill>
            <a:gsLst>
              <a:gs pos="0">
                <a:srgbClr val="FFC102"/>
              </a:gs>
              <a:gs pos="100000">
                <a:srgbClr val="795C04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Installing Dependencies</a:t>
            </a:r>
            <a:endParaRPr sz="5100">
              <a:solidFill>
                <a:schemeClr val="lt1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729625" y="1461975"/>
            <a:ext cx="74841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808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AutoNum type="arabicPeriod"/>
            </a:pPr>
            <a: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Initialize a Node.js project:</a:t>
            </a:r>
            <a:b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npm init -y</a:t>
            </a:r>
            <a:endParaRPr sz="200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80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AutoNum type="arabicPeriod"/>
            </a:pPr>
            <a: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 dependencies:</a:t>
            </a:r>
            <a:b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npm install express OR yarn add express</a:t>
            </a:r>
            <a:endParaRPr b="1" sz="200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npm install --save-dev nodemon OR yarn add nodemon</a:t>
            </a:r>
            <a:endParaRPr sz="200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808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AutoNum type="arabicPeriod"/>
            </a:pPr>
            <a: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your start scripts in package.json</a:t>
            </a:r>
            <a:endParaRPr b="1" sz="200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79">
                <a:solidFill>
                  <a:schemeClr val="lt1"/>
                </a:solidFill>
                <a:highlight>
                  <a:schemeClr val="dk2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"scripts": {</a:t>
            </a:r>
            <a:endParaRPr b="1" sz="1779">
              <a:solidFill>
                <a:schemeClr val="lt1"/>
              </a:solidFill>
              <a:highlight>
                <a:schemeClr val="dk2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79">
                <a:solidFill>
                  <a:schemeClr val="lt1"/>
                </a:solidFill>
                <a:highlight>
                  <a:schemeClr val="dk2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   "start": "nodemon ."</a:t>
            </a:r>
            <a:endParaRPr b="1" sz="1779">
              <a:solidFill>
                <a:schemeClr val="lt1"/>
              </a:solidFill>
              <a:highlight>
                <a:schemeClr val="dk2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79">
                <a:solidFill>
                  <a:schemeClr val="lt1"/>
                </a:solidFill>
                <a:highlight>
                  <a:schemeClr val="dk2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 },</a:t>
            </a:r>
            <a:endParaRPr b="1" sz="2482">
              <a:solidFill>
                <a:schemeClr val="lt1"/>
              </a:solidFill>
              <a:highlight>
                <a:schemeClr val="dk2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808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AutoNum type="arabicPeriod"/>
            </a:pPr>
            <a: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the server:</a:t>
            </a:r>
            <a:br>
              <a:rPr b="1"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00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npm start OR yarn start</a:t>
            </a:r>
            <a:endParaRPr sz="200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1805975" y="804100"/>
            <a:ext cx="3962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Explanation:</a:t>
            </a:r>
            <a:endParaRPr sz="3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86075" y="1608175"/>
            <a:ext cx="8679000" cy="22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85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86296"/>
              <a:buFont typeface="Helvetica Neue"/>
              <a:buChar char="●"/>
            </a:pPr>
            <a:r>
              <a:rPr b="1" lang="en" sz="116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express:</a:t>
            </a:r>
            <a:r>
              <a:rPr lang="en" sz="100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Required to build the server.</a:t>
            </a:r>
            <a:endParaRPr sz="10075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85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Char char="●"/>
            </a:pPr>
            <a:r>
              <a:rPr b="1" lang="en" sz="100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nodemon:</a:t>
            </a:r>
            <a:r>
              <a:rPr lang="en" sz="100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Used during development to automatically restart the server when code changes.</a:t>
            </a:r>
            <a:endParaRPr sz="10075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85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Char char="●"/>
            </a:pPr>
            <a:r>
              <a:rPr b="1" lang="en" sz="100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scripts:</a:t>
            </a:r>
            <a:r>
              <a:rPr lang="en" sz="100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start script uses nodemon to run the server.</a:t>
            </a:r>
            <a:endParaRPr sz="10075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ctrTitle"/>
          </p:nvPr>
        </p:nvSpPr>
        <p:spPr>
          <a:xfrm>
            <a:off x="3201050" y="1076400"/>
            <a:ext cx="3311400" cy="565500"/>
          </a:xfrm>
          <a:prstGeom prst="rect">
            <a:avLst/>
          </a:prstGeom>
          <a:gradFill>
            <a:gsLst>
              <a:gs pos="0">
                <a:srgbClr val="FFC102"/>
              </a:gs>
              <a:gs pos="100000">
                <a:srgbClr val="795C04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Setup</a:t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3202">
              <a:solidFill>
                <a:schemeClr val="lt1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1010075" y="1448700"/>
            <a:ext cx="6977700" cy="3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Content:</a:t>
            </a:r>
            <a:endParaRPr b="1" sz="1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Char char="●"/>
            </a:pPr>
            <a:r>
              <a:rPr b="1"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Name: Https-Server</a:t>
            </a:r>
            <a:endParaRPr b="1" sz="1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Char char="●"/>
            </a:pPr>
            <a:r>
              <a:rPr b="1"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Version: 1.0.0</a:t>
            </a:r>
            <a:endParaRPr b="1" sz="1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Char char="●"/>
            </a:pPr>
            <a:r>
              <a:rPr b="1"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Dependencies:</a:t>
            </a:r>
            <a:endParaRPr b="1" sz="1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Char char="●"/>
            </a:pPr>
            <a:r>
              <a:rPr b="1"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express: A fast and minimalist web framework for Node.js.</a:t>
            </a:r>
            <a:endParaRPr b="1" sz="1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lvetica Neue"/>
              <a:buChar char="●"/>
            </a:pPr>
            <a:r>
              <a:rPr b="1"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nodemon: A development tool that automatically restarts the server when file changes are detected.</a:t>
            </a:r>
            <a:endParaRPr b="1" sz="1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scripts: The start script uses nodemon to run the server.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ctrTitle"/>
          </p:nvPr>
        </p:nvSpPr>
        <p:spPr>
          <a:xfrm>
            <a:off x="304150" y="1575000"/>
            <a:ext cx="2114700" cy="3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Setup</a:t>
            </a:r>
            <a:endParaRPr sz="2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Package.Json</a:t>
            </a:r>
            <a:endParaRPr sz="2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3202">
              <a:solidFill>
                <a:schemeClr val="lt1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658150" y="538300"/>
            <a:ext cx="6326100" cy="4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Configuration (package.json):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"name": "Https-Server",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"version": "1.0.0",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"description": "A node server with https",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"main": "index.js",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"author": "Sam-Generals",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"license": "MIT",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"scripts": {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"start": "nodemon ."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},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"devDependencies": {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"nodemon": "^3.1.9"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},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"dependencies": {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"express": "^4.21.2"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}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Char char="●"/>
            </a:pPr>
            <a:r>
              <a:rPr b="1"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b="1" sz="2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ctrTitle"/>
          </p:nvPr>
        </p:nvSpPr>
        <p:spPr>
          <a:xfrm>
            <a:off x="2470525" y="857275"/>
            <a:ext cx="40020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Install These Dependencies?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727950" y="1839000"/>
            <a:ext cx="76881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Char char="●"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express:</a:t>
            </a:r>
            <a:r>
              <a:rPr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Provides a robust set of features for building web servers and APIs.</a:t>
            </a:r>
            <a:endParaRPr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Char char="●"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nodemon:</a:t>
            </a:r>
            <a:r>
              <a:rPr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Saves time during development by automatically restarting the server.</a:t>
            </a:r>
            <a:endParaRPr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ctrTitle"/>
          </p:nvPr>
        </p:nvSpPr>
        <p:spPr>
          <a:xfrm>
            <a:off x="2470525" y="923725"/>
            <a:ext cx="50253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Differences Between HTTP and Express Servers</a:t>
            </a:r>
            <a:endParaRPr sz="4800">
              <a:solidFill>
                <a:schemeClr val="lt1"/>
              </a:solidFill>
            </a:endParaRPr>
          </a:p>
        </p:txBody>
      </p:sp>
      <p:graphicFrame>
        <p:nvGraphicFramePr>
          <p:cNvPr id="130" name="Google Shape;130;p20"/>
          <p:cNvGraphicFramePr/>
          <p:nvPr/>
        </p:nvGraphicFramePr>
        <p:xfrm>
          <a:off x="952500" y="153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{AF41108D-283E-40B4-BB02-0E7AB1BB8BC9}</a:tableStyleId>
              </a:tblPr>
              <a:tblGrid>
                <a:gridCol w="2413000"/>
                <a:gridCol w="2413000"/>
                <a:gridCol w="2413000"/>
              </a:tblGrid>
              <a:tr h="502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Feature</a:t>
                      </a:r>
                      <a:endParaRPr sz="2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HTTP Server</a:t>
                      </a:r>
                      <a:endParaRPr sz="2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Express Server</a:t>
                      </a:r>
                      <a:endParaRPr sz="2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Routing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Manual handling of URLs and methods.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Built-in routing with server.get(), server.post(), etc.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Middleware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Not available.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Supports middleware for additional functionality.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1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Code Complexity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More verbose and repetitive.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Cleaner and more concise.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Flexibility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to basic HTTP functionality.</a:t>
                      </a:r>
                      <a:endParaRPr b="1" sz="12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Highly extensible with plugins and middleware.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525" marB="9525" marR="47625" marL="47625" anchor="ctr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ctrTitle"/>
          </p:nvPr>
        </p:nvSpPr>
        <p:spPr>
          <a:xfrm>
            <a:off x="1156300" y="697800"/>
            <a:ext cx="7496100" cy="3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HTTP Server (NPM PACKAGE MANAGER)</a:t>
            </a:r>
            <a:endParaRPr sz="5100">
              <a:solidFill>
                <a:schemeClr val="lt1"/>
              </a:solidFill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1546325" y="1249350"/>
            <a:ext cx="7283400" cy="372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1878650" y="1249350"/>
            <a:ext cx="7026000" cy="3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http = require('http'); // Line 1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handleEveryRequest = (requestObject, responseObject) =&gt; { // Line 2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const url = requestObject.url; // Line 3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if (url === '/') { // Line 4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</a:t>
            </a: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sponseObject.write("&lt;h1&gt;Welcome to The HTTP server Homepage&lt;/h1&gt;"); // Line 5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if (url === '/login') { // Line 6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responseObject.write('&lt;h1&gt;Welcome to the login page&lt;/h1&gt;'); // Line 7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if (url === '/register') { // Line 8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responseObject.write('&lt;h1&gt;Register with us&lt;/h1&gt;'); // Line 9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if (url === '/about') { // Line 10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responseObject.write('&lt;h1&gt;This is the About page&lt;/h1&gt;'); // Line 11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{ // Line 12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responseObject.write('&lt;h1&gt;Page not found&lt;/h1&gt;'); // Line 13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responseObject.end(); // Line 14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server = http.createServer(handleEveryRequest); // Line 15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2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server.listen(3008, '127.0.0.1', () =&gt; console.log('Server listening on port 3008')); // Line 16</a:t>
            </a:r>
            <a:endParaRPr b="1" sz="1192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ctrTitle"/>
          </p:nvPr>
        </p:nvSpPr>
        <p:spPr>
          <a:xfrm>
            <a:off x="450375" y="790825"/>
            <a:ext cx="76881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 Code Explanation:</a:t>
            </a:r>
            <a:endParaRPr sz="4880">
              <a:solidFill>
                <a:schemeClr val="lt1"/>
              </a:solidFill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1287850" y="1156300"/>
            <a:ext cx="7456200" cy="389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2"/>
          <p:cNvSpPr txBox="1"/>
          <p:nvPr>
            <p:ph idx="1" type="subTitle"/>
          </p:nvPr>
        </p:nvSpPr>
        <p:spPr>
          <a:xfrm>
            <a:off x="1349575" y="1050025"/>
            <a:ext cx="76881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Imports the built-in http module in Node.js, which provides functionality to create an HTTP server.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2: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Defines a function handleEveryRequest that takes two arguments: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requestObject: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the incoming HTTP request.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responseObject: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the outgoing HTTP response.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3: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Extracts the url property from the requestObject to determine the requested route.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Lines 4–13: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if-else statements to handle different routes (/, /login, /register, /about) and sends an appropriate HTML response using responseObject.write().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14: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Ends the response process using responseObject.end().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15: 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an HTTP server using http.createServer() and passes the handleEveryRequest function to handle all incoming requests.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16:</a:t>
            </a: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Starts the server and listens on port 3008 and IP address 127.0.0.1 (localhost). A message is logged to the console once the server starts.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ctrTitle"/>
          </p:nvPr>
        </p:nvSpPr>
        <p:spPr>
          <a:xfrm>
            <a:off x="863900" y="684500"/>
            <a:ext cx="79614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2 – Express Server with server.use() (SETTING UP EXPRESS SERVER)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1063250" y="1382225"/>
            <a:ext cx="7761900" cy="368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1190225" y="1335725"/>
            <a:ext cx="7688100" cy="37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express = require("express"); // Line 1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server = express(); // Line 2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handleAllRequest = (req, res) =&gt; { // Line 3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const url = req.url; // Line 4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if (url === '/') { // Line 5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res.send('&lt;h1&gt;Welcome to the Express server&lt;/h1&gt;'); // Line 6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if (url === '/login') { // Line 7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res.send('&lt;h1&gt;Welcome to the login page&lt;/h1&gt;'); // Line 8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if (url === '/about') { // Line 9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res.send('&lt;h1&gt;Welcome to the About page&lt;/h1&gt;'); // Line 10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if (url === '/signup') { // Line 11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res.send('&lt;h1&gt;Welcome to the Sign Up page&lt;/h1&gt;'); // Line 12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 else { // Line 13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res.status(404).send('&lt;h1&gt;Page not found on 3003&lt;/h1&gt;'); // Line 14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}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server.use(handleAllRequest); // Line 15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7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server.listen(3003, "127.0.0.1", () =&gt; console.log("Listening on port 3003")); // Line 16</a:t>
            </a:r>
            <a:endParaRPr b="1" sz="5557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ctrTitle"/>
          </p:nvPr>
        </p:nvSpPr>
        <p:spPr>
          <a:xfrm>
            <a:off x="2032650" y="764250"/>
            <a:ext cx="50787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2 – Express Server with server.use() Code Explanation</a:t>
            </a: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956925" y="1262625"/>
            <a:ext cx="7688100" cy="360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4"/>
          <p:cNvSpPr txBox="1"/>
          <p:nvPr>
            <p:ph idx="1" type="subTitle"/>
          </p:nvPr>
        </p:nvSpPr>
        <p:spPr>
          <a:xfrm>
            <a:off x="889100" y="1335675"/>
            <a:ext cx="76881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Imports the express module.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2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Initializes an Express application by calling express().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3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Defines a function handleAllRequest that takes two arguments: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req: Represents the incoming HTTP request.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res: Represents the outgoing HTTP response.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4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Extracts the url property from the req object to determine the requested route.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Lines 5–14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Uses if-else statements to handle different routes (/, /login, /about, /signup) and sends an appropriate HTML response using res.send().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14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If the route is not found, it sends a 404 status code with a "Page not found" message.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15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Uses server.use() to register the handleAllRequest function as middleware. This function will handle all incoming requests.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1"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16</a:t>
            </a:r>
            <a:r>
              <a:rPr lang="en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Starts the server and listens on port 3003 and IP address 127.0.0.1 (localhost). A message is logged to the console once the server starts.</a:t>
            </a:r>
            <a:endParaRPr sz="1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1680500" y="684500"/>
            <a:ext cx="65730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3 – Express Server with server.get() (ROUTES)</a:t>
            </a:r>
            <a:endParaRPr sz="5100">
              <a:solidFill>
                <a:schemeClr val="lt1"/>
              </a:solidFill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1315775" y="1236025"/>
            <a:ext cx="7509300" cy="3535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5"/>
          <p:cNvSpPr txBox="1"/>
          <p:nvPr>
            <p:ph idx="1" type="subTitle"/>
          </p:nvPr>
        </p:nvSpPr>
        <p:spPr>
          <a:xfrm>
            <a:off x="1415525" y="1422025"/>
            <a:ext cx="7309800" cy="334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express = require('express'); // Line 1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server = express(); // Line 2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server.get('/', (req, res) =&gt; res.send('&lt;h1&gt;Home Page&lt;/h1&gt;')); // Line 3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server.get('/login', (req, res) =&gt; res.send('&lt;h1&gt;Login Page&lt;/h1&gt;')); // Line 4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server.get('/about', (req, res) =&gt; res.send('&lt;h1&gt;About Page&lt;/h1&gt;')); // Line 5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server.get('/signup', (req, res) =&gt; res.send('&lt;h1&gt;Sign Up Page&lt;/h1&gt;')); // Line 6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server.use((req, res) =&gt; res.status(404).send('&lt;h1&gt;404: Page not found on 3001 😢&lt;/h1&gt;')); // Line 7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server.listen(3001, '127.0.0.1', () =&gt; console.log('Server listening on port 3001')); // Line 8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ctrTitle"/>
          </p:nvPr>
        </p:nvSpPr>
        <p:spPr>
          <a:xfrm>
            <a:off x="2165550" y="697775"/>
            <a:ext cx="58221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3 – Express Server with server.get() Code Explanation</a:t>
            </a:r>
            <a:endParaRPr sz="4400"/>
          </a:p>
        </p:txBody>
      </p:sp>
      <p:sp>
        <p:nvSpPr>
          <p:cNvPr id="171" name="Google Shape;171;p26"/>
          <p:cNvSpPr/>
          <p:nvPr/>
        </p:nvSpPr>
        <p:spPr>
          <a:xfrm>
            <a:off x="478475" y="1129775"/>
            <a:ext cx="8439600" cy="394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6"/>
          <p:cNvSpPr txBox="1"/>
          <p:nvPr>
            <p:ph idx="1" type="subTitle"/>
          </p:nvPr>
        </p:nvSpPr>
        <p:spPr>
          <a:xfrm>
            <a:off x="524975" y="1342475"/>
            <a:ext cx="8346600" cy="35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Imports the express module.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2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Initializes an Express application by calling express().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Lines 3–6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Uses server.get() to define route handlers for specific HTTP GET requests: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3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requests to the root URL (/) and sends a "Home Page" response.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4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requests to /login and sends a "Login Page" response.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5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requests to /about and sends an "About Page" response.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6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requests to /signup and sends a "Sign Up Page" response.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7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Uses server.use() to handle all other routes that are not defined. It sends a 404 status code with a "Page not found" message.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1"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8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Starts the server and listens on port 3001 and IP address 127.0.0.1 (localhost). A message is logged to the console once the server starts.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ctrTitle"/>
          </p:nvPr>
        </p:nvSpPr>
        <p:spPr>
          <a:xfrm>
            <a:off x="598175" y="657925"/>
            <a:ext cx="8253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4 – Express Server with Multiple HTTP Methods (SPECIFIC ROUTES)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478475" y="1209450"/>
            <a:ext cx="8373300" cy="3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7"/>
          <p:cNvSpPr txBox="1"/>
          <p:nvPr>
            <p:ph idx="1" type="subTitle"/>
          </p:nvPr>
        </p:nvSpPr>
        <p:spPr>
          <a:xfrm>
            <a:off x="478475" y="1209450"/>
            <a:ext cx="8373300" cy="37479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express = require("express"); // Line 1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 server = express(); // Line 2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server.get('/', (req, res) =&gt; res.send("Handling all home requests")); // Line 3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server.post('/login', (req, res) =&gt; res.send('&lt;h1&gt;This is login page with POST&lt;/h1&gt;')); // Line 4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server.put('/login', (req, res) =&gt; res.send('&lt;h1&gt;This is login page with PUT&lt;/h1&gt;')); // Line 5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server.get('/about', (req, res) =&gt; res.send('&lt;h1&gt;About Page with GET&lt;/h1&gt;')); // Line 6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server.put('/signup', (req, res) =&gt; res.send('&lt;h1&gt;Signup Page with PUT&lt;/h1&gt;')); // Line 7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server.delete('/logout', (req, res) =&gt; res.send('&lt;h1&gt;Logout Page with DELETE&lt;/h1&gt;')); // Line 8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server.use((req, res) =&gt; res.status(404).send('&lt;h1&gt;404: Page not found on 3001 😢&lt;/h1&gt;')); // Line 9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server.listen(3001, "127.0.0.1", () =&gt; console.log("Server listening on port 3001")); // Line 10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ctrTitle"/>
          </p:nvPr>
        </p:nvSpPr>
        <p:spPr>
          <a:xfrm>
            <a:off x="995275" y="6047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4 – Express Server with Multiple HTTP Methods Code Explanation</a:t>
            </a:r>
            <a:endParaRPr/>
          </a:p>
        </p:txBody>
      </p:sp>
      <p:sp>
        <p:nvSpPr>
          <p:cNvPr id="185" name="Google Shape;185;p28"/>
          <p:cNvSpPr txBox="1"/>
          <p:nvPr>
            <p:ph idx="1" type="subTitle"/>
          </p:nvPr>
        </p:nvSpPr>
        <p:spPr>
          <a:xfrm>
            <a:off x="279100" y="1315775"/>
            <a:ext cx="8625600" cy="36285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Imports the express module.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2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Initializes an Express application by calling express().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Lines 3–8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Defines route handlers for different HTTP methods: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3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GET requests to the root URL (/).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4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POST requests to /login.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5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PUT requests to /login.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6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GET requests to /about.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7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PUT requests to /signup.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8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Handles DELETE requests to /logout.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9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Uses server.use() to handle all other routes that are not defined. It sends a 404 status code with a "Page not found" message.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 10</a:t>
            </a:r>
            <a:r>
              <a:rPr lang="en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Starts the server and listens on port 3001 and IP address 127.0.0.1 (localhost). A message is logged to the console once the server starts.</a:t>
            </a:r>
            <a:endParaRPr sz="15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ctrTitle"/>
          </p:nvPr>
        </p:nvSpPr>
        <p:spPr>
          <a:xfrm>
            <a:off x="2696475" y="618050"/>
            <a:ext cx="30450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Testing the Servers</a:t>
            </a:r>
            <a:endParaRPr sz="5200">
              <a:solidFill>
                <a:schemeClr val="lt1"/>
              </a:solidFill>
            </a:endParaRPr>
          </a:p>
        </p:txBody>
      </p:sp>
      <p:sp>
        <p:nvSpPr>
          <p:cNvPr id="191" name="Google Shape;191;p29"/>
          <p:cNvSpPr txBox="1"/>
          <p:nvPr>
            <p:ph idx="1" type="subTitle"/>
          </p:nvPr>
        </p:nvSpPr>
        <p:spPr>
          <a:xfrm>
            <a:off x="729625" y="1727800"/>
            <a:ext cx="7688100" cy="19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</a:t>
            </a: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 Browser</a:t>
            </a: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Test GET routes by navigating to http://127.0.0.1:3001/ and similar URLs.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Test all HTTP methods (GET, POST, PUT, DELETE) by sending requests to the defined endpoints.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ctrTitle"/>
          </p:nvPr>
        </p:nvSpPr>
        <p:spPr>
          <a:xfrm>
            <a:off x="2324325" y="684475"/>
            <a:ext cx="3922200" cy="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</a:t>
            </a:r>
            <a:endParaRPr sz="5480">
              <a:solidFill>
                <a:schemeClr val="lt1"/>
              </a:solidFill>
            </a:endParaRPr>
          </a:p>
        </p:txBody>
      </p:sp>
      <p:sp>
        <p:nvSpPr>
          <p:cNvPr id="197" name="Google Shape;197;p30"/>
          <p:cNvSpPr txBox="1"/>
          <p:nvPr>
            <p:ph idx="1" type="subTitle"/>
          </p:nvPr>
        </p:nvSpPr>
        <p:spPr>
          <a:xfrm>
            <a:off x="729625" y="1435400"/>
            <a:ext cx="7688100" cy="31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</a:t>
            </a: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</a:t>
            </a: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simplifies route management and server setup compared to native HTTP servers.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takeaways:</a:t>
            </a:r>
            <a:endParaRPr b="1"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express for cleaner and more maintainable code.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Leverage middleware for additional functionality.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Explore advanced features like routing and HTTP methods.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b="1"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week: </a:t>
            </a:r>
            <a:r>
              <a:rPr lang="en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Dive deeper into middleware and advanced Express features.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